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a:t>
            </a:r>
          </a:p>
          <a:p/>
          <a:p>
            <a:r>
              <a:t>Today I'll be presenting the latest progress on our EcAZ phage project. The goal of this project is to isolate bacteriophages that can infect EcAZ E. coli strains from sewage samples, laying the foundation for future phage therapy research.</a:t>
            </a:r>
          </a:p>
          <a:p/>
          <a:p>
            <a:r>
              <a:t>I'll cover the project background, isolation results, host range determination, and our ongoing titer determination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project background.</a:t>
            </a:r>
          </a:p>
          <a:p/>
          <a:p>
            <a:r>
              <a:t>Our core objective is to isolate bacteriophages capable of infecting EcAZ E. coli from sewage samples. Why sewage? Because it's a natural reservoir of phage diversity, containing a rich variety of bacteriophages.</a:t>
            </a:r>
          </a:p>
          <a:p/>
          <a:p>
            <a:r>
              <a:t>We used two host strains for screening: EcAZ-1, a wild-type strain we call W, and EcAZ-2-OVA, an engineered strain expressing the OVA antigen, which we call R.</a:t>
            </a:r>
          </a:p>
          <a:p/>
          <a:p>
            <a:r>
              <a:t>The ultimate application of this project is phage therapy research. The isolated phages will be evaluated for their therapeutic potential.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Through multiple rounds of enrichment and purification, we successfully isolated five bacteriophages.</a:t>
            </a:r>
          </a:p>
          <a:p/>
          <a:p>
            <a:r>
              <a:t>This table shows the basic information for each phage. R1, R2, and R3 were enriched using the R strain, while W1 and W2 were enriched using the W strain.</a:t>
            </a:r>
          </a:p>
          <a:p/>
          <a:p>
            <a:r>
              <a:t>Notably, these five phages exhibit distinct plaque morphologies. R1 produces tiny plaques, R2 produces turbid plaques—which might suggest it's a temperate phage. R3 is the most striking, producing large, clear plaques with high titer.</a:t>
            </a:r>
          </a:p>
          <a:p/>
          <a:p>
            <a:r>
              <a:t>Each phage underwent 4-6 rounds of purification to ensure we obtained pure isolates.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host range determination results—this is where we made a very important discovery!</a:t>
            </a:r>
          </a:p>
          <a:p/>
          <a:p>
            <a:r>
              <a:t>Please pay attention to the R1 row in this table. It can only infect the R strain and completely fails to infect the W strain. This is the only narrow-host-range phage among all five isolates!</a:t>
            </a:r>
          </a:p>
          <a:p/>
          <a:p>
            <a:r>
              <a:t>Why can R1 only infect the R strain? One possible explanation is that the OVA protein expressed on the R strain's surface alters the cell surface structure, and R1 specifically recognizes this unique receptor. This characteristic makes R1 a very valuable research subject.</a:t>
            </a:r>
          </a:p>
          <a:p/>
          <a:p>
            <a:r>
              <a:t>The other four phages all have broad host ranges and can infect both strains.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Currently, the titer determination experiment is in progress.</a:t>
            </a:r>
          </a:p>
          <a:p/>
          <a:p>
            <a:r>
              <a:t>Let me briefly update you on our progress: On January 14th, we completed strain activation. On January 15th, we performed streak plating and picked single colonies. Today, January 16th, we completed the double-layer agar plating.</a:t>
            </a:r>
          </a:p>
          <a:p/>
          <a:p>
            <a:r>
              <a:t>Since R3 showed very high titers in previous experiments, we used a higher dilution range this time, from 10 to the negative 8th power to 10 to the negative 14th power.</a:t>
            </a:r>
          </a:p>
          <a:p/>
          <a:p>
            <a:r>
              <a:t>We expect to observe results tomorrow, at which point we can accurately calculate the titers for each phage.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summarize our main findings and future plans.</a:t>
            </a:r>
          </a:p>
          <a:p/>
          <a:p>
            <a:r>
              <a:t>We have three key findings: First, we successfully isolated five bacteriophages from sewage. Second, R1 is the only narrow-host-range phage—this is a very valuable discovery worthy of investigating its molecular mechanism. Third, R3 shows very high titers, making it suitable for large-scale preparation.</a:t>
            </a:r>
          </a:p>
          <a:p/>
          <a:p>
            <a:r>
              <a:t>Our next steps: After completing titer determination this week, we will conduct one-step growth curve experiments to characterize the replication kinetics of these phages, followed by DNA extraction and genome sequencing to comprehensively understand their genetic features.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your attention!</a:t>
            </a:r>
          </a:p>
          <a:p/>
          <a:p>
            <a:r>
              <a:t>If you have any questions or suggestions, I'd be happy to discuss them. I'm particularly interested in hearing your thoughts about the mechanism behind R1's narrow host range.</a:t>
            </a:r>
          </a:p>
          <a:p/>
          <a:p>
            <a:r>
              <a:t>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6217920"/>
            <a:ext cx="11887200" cy="6400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1371600"/>
          </a:xfrm>
          <a:prstGeom prst="rect">
            <a:avLst/>
          </a:prstGeom>
          <a:noFill/>
        </p:spPr>
        <p:txBody>
          <a:bodyPr wrap="square">
            <a:spAutoFit/>
          </a:bodyPr>
          <a:lstStyle/>
          <a:p>
            <a:pPr algn="l">
              <a:defRPr sz="4400" b="1">
                <a:solidFill>
                  <a:srgbClr val="0D47A1"/>
                </a:solidFill>
                <a:latin typeface="Arial"/>
              </a:defRPr>
            </a:pPr>
            <a:r>
              <a:t>EcAZ Phage Project Progress</a:t>
            </a:r>
          </a:p>
        </p:txBody>
      </p:sp>
      <p:sp>
        <p:nvSpPr>
          <p:cNvPr id="5" name="TextBox 4"/>
          <p:cNvSpPr txBox="1"/>
          <p:nvPr/>
        </p:nvSpPr>
        <p:spPr>
          <a:xfrm>
            <a:off x="914400" y="3200400"/>
            <a:ext cx="10058400" cy="731520"/>
          </a:xfrm>
          <a:prstGeom prst="rect">
            <a:avLst/>
          </a:prstGeom>
          <a:noFill/>
        </p:spPr>
        <p:txBody>
          <a:bodyPr wrap="square">
            <a:spAutoFit/>
          </a:bodyPr>
          <a:lstStyle/>
          <a:p>
            <a:pPr algn="l">
              <a:defRPr sz="2400" b="0">
                <a:solidFill>
                  <a:srgbClr val="333333"/>
                </a:solidFill>
                <a:latin typeface="Arial"/>
              </a:defRPr>
            </a:pPr>
            <a:r>
              <a:t>Group Meeting Report</a:t>
            </a:r>
          </a:p>
        </p:txBody>
      </p:sp>
      <p:sp>
        <p:nvSpPr>
          <p:cNvPr id="6" name="TextBox 5"/>
          <p:cNvSpPr txBox="1"/>
          <p:nvPr/>
        </p:nvSpPr>
        <p:spPr>
          <a:xfrm>
            <a:off x="914400" y="5029200"/>
            <a:ext cx="5486400" cy="457200"/>
          </a:xfrm>
          <a:prstGeom prst="rect">
            <a:avLst/>
          </a:prstGeom>
          <a:noFill/>
        </p:spPr>
        <p:txBody>
          <a:bodyPr wrap="square">
            <a:spAutoFit/>
          </a:bodyPr>
          <a:lstStyle/>
          <a:p>
            <a:pPr algn="l">
              <a:defRPr sz="1800" b="0">
                <a:solidFill>
                  <a:srgbClr val="333333"/>
                </a:solidFill>
                <a:latin typeface="Arial"/>
              </a:defRPr>
            </a:pPr>
            <a:r>
              <a:t>Yuhang Gong</a:t>
            </a:r>
          </a:p>
        </p:txBody>
      </p:sp>
      <p:sp>
        <p:nvSpPr>
          <p:cNvPr id="7" name="TextBox 6"/>
          <p:cNvSpPr txBox="1"/>
          <p:nvPr/>
        </p:nvSpPr>
        <p:spPr>
          <a:xfrm>
            <a:off x="914400" y="5486400"/>
            <a:ext cx="5486400" cy="457200"/>
          </a:xfrm>
          <a:prstGeom prst="rect">
            <a:avLst/>
          </a:prstGeom>
          <a:noFill/>
        </p:spPr>
        <p:txBody>
          <a:bodyPr wrap="square">
            <a:spAutoFit/>
          </a:bodyPr>
          <a:lstStyle/>
          <a:p>
            <a:pPr algn="l">
              <a:defRPr sz="1600" b="0">
                <a:solidFill>
                  <a:srgbClr val="333333"/>
                </a:solidFill>
                <a:latin typeface="Arial"/>
              </a:defRPr>
            </a:pPr>
            <a:r>
              <a:t>2026-01-16</a:t>
            </a:r>
          </a:p>
        </p:txBody>
      </p:sp>
      <p:pic>
        <p:nvPicPr>
          <p:cNvPr id="8" name="Picture 7" descr="logo.png"/>
          <p:cNvPicPr>
            <a:picLocks noChangeAspect="1"/>
          </p:cNvPicPr>
          <p:nvPr/>
        </p:nvPicPr>
        <p:blipFill>
          <a:blip r:embed="rId2"/>
          <a:stretch>
            <a:fillRect/>
          </a:stretch>
        </p:blipFill>
        <p:spPr>
          <a:xfrm>
            <a:off x="9601200" y="4572000"/>
            <a:ext cx="2011680" cy="107885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7315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a:spAutoFit/>
          </a:bodyPr>
          <a:lstStyle/>
          <a:p>
            <a:pPr algn="l">
              <a:defRPr sz="2800" b="1">
                <a:solidFill>
                  <a:srgbClr val="FFFFFF"/>
                </a:solidFill>
                <a:latin typeface="Arial"/>
              </a:defRPr>
            </a:pPr>
            <a:r>
              <a:t>Project Background</a:t>
            </a:r>
          </a:p>
        </p:txBody>
      </p:sp>
      <p:pic>
        <p:nvPicPr>
          <p:cNvPr id="5" name="Picture 4" descr="logo.png"/>
          <p:cNvPicPr>
            <a:picLocks noChangeAspect="1"/>
          </p:cNvPicPr>
          <p:nvPr/>
        </p:nvPicPr>
        <p:blipFill>
          <a:blip r:embed="rId2"/>
          <a:stretch>
            <a:fillRect/>
          </a:stretch>
        </p:blipFill>
        <p:spPr>
          <a:xfrm>
            <a:off x="10515600" y="228600"/>
            <a:ext cx="1193521" cy="640080"/>
          </a:xfrm>
          <a:prstGeom prst="rect">
            <a:avLst/>
          </a:prstGeom>
        </p:spPr>
      </p:pic>
      <p:sp>
        <p:nvSpPr>
          <p:cNvPr id="6" name="TextBox 5"/>
          <p:cNvSpPr txBox="1"/>
          <p:nvPr/>
        </p:nvSpPr>
        <p:spPr>
          <a:xfrm>
            <a:off x="457200" y="1463040"/>
            <a:ext cx="10972800" cy="5029200"/>
          </a:xfrm>
          <a:prstGeom prst="rect">
            <a:avLst/>
          </a:prstGeom>
          <a:noFill/>
        </p:spPr>
        <p:txBody>
          <a:bodyPr wrap="square">
            <a:spAutoFit/>
          </a:bodyPr>
          <a:lstStyle/>
          <a:p>
            <a:pPr algn="l">
              <a:defRPr sz="2000" b="0">
                <a:solidFill>
                  <a:srgbClr val="333333"/>
                </a:solidFill>
                <a:latin typeface="Arial"/>
              </a:defRPr>
            </a:pPr>
            <a:r>
              <a:t>• Objective: Isolate phages infecting EcAZ E. coli from sewage</a:t>
            </a:r>
            <a:br/>
            <a:r>
              <a:t>• Host strain: EcAZ-1 (W strain, wild-type)</a:t>
            </a:r>
            <a:br/>
            <a:r>
              <a:t>• Host strain: EcAZ-2-OVA (R strain, OVA-expressing)</a:t>
            </a:r>
            <a:br/>
            <a:r>
              <a:t>• Application: Phage therapy research</a:t>
            </a:r>
          </a:p>
        </p:txBody>
      </p:sp>
      <p:sp>
        <p:nvSpPr>
          <p:cNvPr id="7" name="TextBox 6"/>
          <p:cNvSpPr txBox="1"/>
          <p:nvPr/>
        </p:nvSpPr>
        <p:spPr>
          <a:xfrm>
            <a:off x="10972800" y="6400800"/>
            <a:ext cx="914400" cy="365760"/>
          </a:xfrm>
          <a:prstGeom prst="rect">
            <a:avLst/>
          </a:prstGeom>
          <a:noFill/>
        </p:spPr>
        <p:txBody>
          <a:bodyPr wrap="square">
            <a:spAutoFit/>
          </a:bodyPr>
          <a:lstStyle/>
          <a:p>
            <a:pPr algn="r">
              <a:defRPr sz="1200" b="0">
                <a:solidFill>
                  <a:srgbClr val="333333"/>
                </a:solidFill>
                <a:latin typeface="Aria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7315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a:spAutoFit/>
          </a:bodyPr>
          <a:lstStyle/>
          <a:p>
            <a:pPr algn="l">
              <a:defRPr sz="2800" b="1">
                <a:solidFill>
                  <a:srgbClr val="FFFFFF"/>
                </a:solidFill>
                <a:latin typeface="Arial"/>
              </a:defRPr>
            </a:pPr>
            <a:r>
              <a:t>Phage Isolation Results</a:t>
            </a:r>
          </a:p>
        </p:txBody>
      </p:sp>
      <p:pic>
        <p:nvPicPr>
          <p:cNvPr id="5" name="Picture 4" descr="logo.png"/>
          <p:cNvPicPr>
            <a:picLocks noChangeAspect="1"/>
          </p:cNvPicPr>
          <p:nvPr/>
        </p:nvPicPr>
        <p:blipFill>
          <a:blip r:embed="rId2"/>
          <a:stretch>
            <a:fillRect/>
          </a:stretch>
        </p:blipFill>
        <p:spPr>
          <a:xfrm>
            <a:off x="10515600" y="228600"/>
            <a:ext cx="1193521" cy="640080"/>
          </a:xfrm>
          <a:prstGeom prst="rect">
            <a:avLst/>
          </a:prstGeom>
        </p:spPr>
      </p:pic>
      <p:graphicFrame>
        <p:nvGraphicFramePr>
          <p:cNvPr id="6" name="Table 5"/>
          <p:cNvGraphicFramePr>
            <a:graphicFrameLocks noGrp="1"/>
          </p:cNvGraphicFramePr>
          <p:nvPr/>
        </p:nvGraphicFramePr>
        <p:xfrm>
          <a:off x="731520" y="1645920"/>
          <a:ext cx="10515600" cy="3291839"/>
        </p:xfrm>
        <a:graphic>
          <a:graphicData uri="http://schemas.openxmlformats.org/drawingml/2006/table">
            <a:tbl>
              <a:tblPr firstRow="1" bandRow="1">
                <a:tableStyleId>{5C22544A-7EE6-4342-B048-85BDC9FD1C3A}</a:tableStyleId>
              </a:tblPr>
              <a:tblGrid>
                <a:gridCol w="2628900"/>
                <a:gridCol w="2628900"/>
                <a:gridCol w="2628900"/>
                <a:gridCol w="2628900"/>
              </a:tblGrid>
              <a:tr h="548639">
                <a:tc>
                  <a:txBody>
                    <a:bodyPr/>
                    <a:lstStyle/>
                    <a:p>
                      <a:pPr>
                        <a:defRPr b="1" sz="1400">
                          <a:solidFill>
                            <a:srgbClr val="FFFFFF"/>
                          </a:solidFill>
                        </a:defRPr>
                      </a:pPr>
                      <a:r>
                        <a:t>Phage</a:t>
                      </a:r>
                    </a:p>
                  </a:txBody>
                  <a:tcPr>
                    <a:solidFill>
                      <a:srgbClr val="1465C0"/>
                    </a:solidFill>
                  </a:tcPr>
                </a:tc>
                <a:tc>
                  <a:txBody>
                    <a:bodyPr/>
                    <a:lstStyle/>
                    <a:p>
                      <a:pPr>
                        <a:defRPr b="1" sz="1400">
                          <a:solidFill>
                            <a:srgbClr val="FFFFFF"/>
                          </a:solidFill>
                        </a:defRPr>
                      </a:pPr>
                      <a:r>
                        <a:t>Enrichment Host</a:t>
                      </a:r>
                    </a:p>
                  </a:txBody>
                  <a:tcPr>
                    <a:solidFill>
                      <a:srgbClr val="1465C0"/>
                    </a:solidFill>
                  </a:tcPr>
                </a:tc>
                <a:tc>
                  <a:txBody>
                    <a:bodyPr/>
                    <a:lstStyle/>
                    <a:p>
                      <a:pPr>
                        <a:defRPr b="1" sz="1400">
                          <a:solidFill>
                            <a:srgbClr val="FFFFFF"/>
                          </a:solidFill>
                        </a:defRPr>
                      </a:pPr>
                      <a:r>
                        <a:t>Plaque Morphology</a:t>
                      </a:r>
                    </a:p>
                  </a:txBody>
                  <a:tcPr>
                    <a:solidFill>
                      <a:srgbClr val="1465C0"/>
                    </a:solidFill>
                  </a:tcPr>
                </a:tc>
                <a:tc>
                  <a:txBody>
                    <a:bodyPr/>
                    <a:lstStyle/>
                    <a:p>
                      <a:pPr>
                        <a:defRPr b="1" sz="1400">
                          <a:solidFill>
                            <a:srgbClr val="FFFFFF"/>
                          </a:solidFill>
                        </a:defRPr>
                      </a:pPr>
                      <a:r>
                        <a:t>Purification Rounds</a:t>
                      </a:r>
                    </a:p>
                  </a:txBody>
                  <a:tcPr>
                    <a:solidFill>
                      <a:srgbClr val="1465C0"/>
                    </a:solidFill>
                  </a:tcPr>
                </a:tc>
              </a:tr>
              <a:tr h="548639">
                <a:tc>
                  <a:txBody>
                    <a:bodyPr/>
                    <a:lstStyle/>
                    <a:p>
                      <a:pPr>
                        <a:defRPr sz="1200">
                          <a:solidFill>
                            <a:srgbClr val="333333"/>
                          </a:solidFill>
                        </a:defRPr>
                      </a:pPr>
                      <a:r>
                        <a:t>R1</a:t>
                      </a:r>
                    </a:p>
                  </a:txBody>
                  <a:tcPr/>
                </a:tc>
                <a:tc>
                  <a:txBody>
                    <a:bodyPr/>
                    <a:lstStyle/>
                    <a:p>
                      <a:pPr>
                        <a:defRPr sz="1200">
                          <a:solidFill>
                            <a:srgbClr val="333333"/>
                          </a:solidFill>
                        </a:defRPr>
                      </a:pPr>
                      <a:r>
                        <a:t>EcAZ-2-OVA</a:t>
                      </a:r>
                    </a:p>
                  </a:txBody>
                  <a:tcPr/>
                </a:tc>
                <a:tc>
                  <a:txBody>
                    <a:bodyPr/>
                    <a:lstStyle/>
                    <a:p>
                      <a:pPr>
                        <a:defRPr sz="1200">
                          <a:solidFill>
                            <a:srgbClr val="333333"/>
                          </a:solidFill>
                        </a:defRPr>
                      </a:pPr>
                      <a:r>
                        <a:t>Tiny plaques</a:t>
                      </a:r>
                    </a:p>
                  </a:txBody>
                  <a:tcPr/>
                </a:tc>
                <a:tc>
                  <a:txBody>
                    <a:bodyPr/>
                    <a:lstStyle/>
                    <a:p>
                      <a:pPr>
                        <a:defRPr sz="1200">
                          <a:solidFill>
                            <a:srgbClr val="333333"/>
                          </a:solidFill>
                        </a:defRPr>
                      </a:pPr>
                      <a:r>
                        <a:t>4-5 rounds</a:t>
                      </a:r>
                    </a:p>
                  </a:txBody>
                  <a:tcPr/>
                </a:tc>
              </a:tr>
              <a:tr h="548639">
                <a:tc>
                  <a:txBody>
                    <a:bodyPr/>
                    <a:lstStyle/>
                    <a:p>
                      <a:pPr>
                        <a:defRPr sz="1200">
                          <a:solidFill>
                            <a:srgbClr val="333333"/>
                          </a:solidFill>
                        </a:defRPr>
                      </a:pPr>
                      <a:r>
                        <a:t>R2</a:t>
                      </a:r>
                    </a:p>
                  </a:txBody>
                  <a:tcPr/>
                </a:tc>
                <a:tc>
                  <a:txBody>
                    <a:bodyPr/>
                    <a:lstStyle/>
                    <a:p>
                      <a:pPr>
                        <a:defRPr sz="1200">
                          <a:solidFill>
                            <a:srgbClr val="333333"/>
                          </a:solidFill>
                        </a:defRPr>
                      </a:pPr>
                      <a:r>
                        <a:t>EcAZ-2-OVA</a:t>
                      </a:r>
                    </a:p>
                  </a:txBody>
                  <a:tcPr/>
                </a:tc>
                <a:tc>
                  <a:txBody>
                    <a:bodyPr/>
                    <a:lstStyle/>
                    <a:p>
                      <a:pPr>
                        <a:defRPr sz="1200">
                          <a:solidFill>
                            <a:srgbClr val="333333"/>
                          </a:solidFill>
                        </a:defRPr>
                      </a:pPr>
                      <a:r>
                        <a:t>Turbid plaques</a:t>
                      </a:r>
                    </a:p>
                  </a:txBody>
                  <a:tcPr/>
                </a:tc>
                <a:tc>
                  <a:txBody>
                    <a:bodyPr/>
                    <a:lstStyle/>
                    <a:p>
                      <a:pPr>
                        <a:defRPr sz="1200">
                          <a:solidFill>
                            <a:srgbClr val="333333"/>
                          </a:solidFill>
                        </a:defRPr>
                      </a:pPr>
                      <a:r>
                        <a:t>4-5 rounds</a:t>
                      </a:r>
                    </a:p>
                  </a:txBody>
                  <a:tcPr/>
                </a:tc>
              </a:tr>
              <a:tr h="548639">
                <a:tc>
                  <a:txBody>
                    <a:bodyPr/>
                    <a:lstStyle/>
                    <a:p>
                      <a:pPr>
                        <a:defRPr sz="1200">
                          <a:solidFill>
                            <a:srgbClr val="333333"/>
                          </a:solidFill>
                        </a:defRPr>
                      </a:pPr>
                      <a:r>
                        <a:t>R3</a:t>
                      </a:r>
                    </a:p>
                  </a:txBody>
                  <a:tcPr/>
                </a:tc>
                <a:tc>
                  <a:txBody>
                    <a:bodyPr/>
                    <a:lstStyle/>
                    <a:p>
                      <a:pPr>
                        <a:defRPr sz="1200">
                          <a:solidFill>
                            <a:srgbClr val="333333"/>
                          </a:solidFill>
                        </a:defRPr>
                      </a:pPr>
                      <a:r>
                        <a:t>EcAZ-2-OVA</a:t>
                      </a:r>
                    </a:p>
                  </a:txBody>
                  <a:tcPr/>
                </a:tc>
                <a:tc>
                  <a:txBody>
                    <a:bodyPr/>
                    <a:lstStyle/>
                    <a:p>
                      <a:pPr>
                        <a:defRPr sz="1200">
                          <a:solidFill>
                            <a:srgbClr val="333333"/>
                          </a:solidFill>
                        </a:defRPr>
                      </a:pPr>
                      <a:r>
                        <a:t>Large plaques, high titer</a:t>
                      </a:r>
                    </a:p>
                  </a:txBody>
                  <a:tcPr/>
                </a:tc>
                <a:tc>
                  <a:txBody>
                    <a:bodyPr/>
                    <a:lstStyle/>
                    <a:p>
                      <a:pPr>
                        <a:defRPr sz="1200">
                          <a:solidFill>
                            <a:srgbClr val="333333"/>
                          </a:solidFill>
                        </a:defRPr>
                      </a:pPr>
                      <a:r>
                        <a:t>4-5 rounds</a:t>
                      </a:r>
                    </a:p>
                  </a:txBody>
                  <a:tcPr/>
                </a:tc>
              </a:tr>
              <a:tr h="548639">
                <a:tc>
                  <a:txBody>
                    <a:bodyPr/>
                    <a:lstStyle/>
                    <a:p>
                      <a:pPr>
                        <a:defRPr sz="1200">
                          <a:solidFill>
                            <a:srgbClr val="333333"/>
                          </a:solidFill>
                        </a:defRPr>
                      </a:pPr>
                      <a:r>
                        <a:t>W1</a:t>
                      </a:r>
                    </a:p>
                  </a:txBody>
                  <a:tcPr/>
                </a:tc>
                <a:tc>
                  <a:txBody>
                    <a:bodyPr/>
                    <a:lstStyle/>
                    <a:p>
                      <a:pPr>
                        <a:defRPr sz="1200">
                          <a:solidFill>
                            <a:srgbClr val="333333"/>
                          </a:solidFill>
                        </a:defRPr>
                      </a:pPr>
                      <a:r>
                        <a:t>EcAZ-1</a:t>
                      </a:r>
                    </a:p>
                  </a:txBody>
                  <a:tcPr/>
                </a:tc>
                <a:tc>
                  <a:txBody>
                    <a:bodyPr/>
                    <a:lstStyle/>
                    <a:p>
                      <a:pPr>
                        <a:defRPr sz="1200">
                          <a:solidFill>
                            <a:srgbClr val="333333"/>
                          </a:solidFill>
                        </a:defRPr>
                      </a:pPr>
                      <a:r>
                        <a:t>Small plaques</a:t>
                      </a:r>
                    </a:p>
                  </a:txBody>
                  <a:tcPr/>
                </a:tc>
                <a:tc>
                  <a:txBody>
                    <a:bodyPr/>
                    <a:lstStyle/>
                    <a:p>
                      <a:pPr>
                        <a:defRPr sz="1200">
                          <a:solidFill>
                            <a:srgbClr val="333333"/>
                          </a:solidFill>
                        </a:defRPr>
                      </a:pPr>
                      <a:r>
                        <a:t>5-6 rounds</a:t>
                      </a:r>
                    </a:p>
                  </a:txBody>
                  <a:tcPr/>
                </a:tc>
              </a:tr>
              <a:tr h="548644">
                <a:tc>
                  <a:txBody>
                    <a:bodyPr/>
                    <a:lstStyle/>
                    <a:p>
                      <a:pPr>
                        <a:defRPr sz="1200">
                          <a:solidFill>
                            <a:srgbClr val="333333"/>
                          </a:solidFill>
                        </a:defRPr>
                      </a:pPr>
                      <a:r>
                        <a:t>W2</a:t>
                      </a:r>
                    </a:p>
                  </a:txBody>
                  <a:tcPr/>
                </a:tc>
                <a:tc>
                  <a:txBody>
                    <a:bodyPr/>
                    <a:lstStyle/>
                    <a:p>
                      <a:pPr>
                        <a:defRPr sz="1200">
                          <a:solidFill>
                            <a:srgbClr val="333333"/>
                          </a:solidFill>
                        </a:defRPr>
                      </a:pPr>
                      <a:r>
                        <a:t>EcAZ-1</a:t>
                      </a:r>
                    </a:p>
                  </a:txBody>
                  <a:tcPr/>
                </a:tc>
                <a:tc>
                  <a:txBody>
                    <a:bodyPr/>
                    <a:lstStyle/>
                    <a:p>
                      <a:pPr>
                        <a:defRPr sz="1200">
                          <a:solidFill>
                            <a:srgbClr val="333333"/>
                          </a:solidFill>
                        </a:defRPr>
                      </a:pPr>
                      <a:r>
                        <a:t>Medium plaques</a:t>
                      </a:r>
                    </a:p>
                  </a:txBody>
                  <a:tcPr/>
                </a:tc>
                <a:tc>
                  <a:txBody>
                    <a:bodyPr/>
                    <a:lstStyle/>
                    <a:p>
                      <a:pPr>
                        <a:defRPr sz="1200">
                          <a:solidFill>
                            <a:srgbClr val="333333"/>
                          </a:solidFill>
                        </a:defRPr>
                      </a:pPr>
                      <a:r>
                        <a:t>5-6 rounds</a:t>
                      </a:r>
                    </a:p>
                  </a:txBody>
                  <a:tcPr/>
                </a:tc>
              </a:tr>
            </a:tbl>
          </a:graphicData>
        </a:graphic>
      </p:graphicFrame>
      <p:sp>
        <p:nvSpPr>
          <p:cNvPr id="7" name="TextBox 6"/>
          <p:cNvSpPr txBox="1"/>
          <p:nvPr/>
        </p:nvSpPr>
        <p:spPr>
          <a:xfrm>
            <a:off x="10972800" y="6400800"/>
            <a:ext cx="914400" cy="365760"/>
          </a:xfrm>
          <a:prstGeom prst="rect">
            <a:avLst/>
          </a:prstGeom>
          <a:noFill/>
        </p:spPr>
        <p:txBody>
          <a:bodyPr wrap="square">
            <a:spAutoFit/>
          </a:bodyPr>
          <a:lstStyle/>
          <a:p>
            <a:pPr algn="r">
              <a:defRPr sz="1200" b="0">
                <a:solidFill>
                  <a:srgbClr val="333333"/>
                </a:solidFill>
                <a:latin typeface="Aria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7315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a:spAutoFit/>
          </a:bodyPr>
          <a:lstStyle/>
          <a:p>
            <a:pPr algn="l">
              <a:defRPr sz="2800" b="1">
                <a:solidFill>
                  <a:srgbClr val="FFFFFF"/>
                </a:solidFill>
                <a:latin typeface="Arial"/>
              </a:defRPr>
            </a:pPr>
            <a:r>
              <a:t>Host Range Determination Results</a:t>
            </a:r>
          </a:p>
        </p:txBody>
      </p:sp>
      <p:pic>
        <p:nvPicPr>
          <p:cNvPr id="5" name="Picture 4" descr="logo.png"/>
          <p:cNvPicPr>
            <a:picLocks noChangeAspect="1"/>
          </p:cNvPicPr>
          <p:nvPr/>
        </p:nvPicPr>
        <p:blipFill>
          <a:blip r:embed="rId2"/>
          <a:stretch>
            <a:fillRect/>
          </a:stretch>
        </p:blipFill>
        <p:spPr>
          <a:xfrm>
            <a:off x="10515600" y="228600"/>
            <a:ext cx="1193521" cy="640080"/>
          </a:xfrm>
          <a:prstGeom prst="rect">
            <a:avLst/>
          </a:prstGeom>
        </p:spPr>
      </p:pic>
      <p:graphicFrame>
        <p:nvGraphicFramePr>
          <p:cNvPr id="6" name="Table 5"/>
          <p:cNvGraphicFramePr>
            <a:graphicFrameLocks noGrp="1"/>
          </p:cNvGraphicFramePr>
          <p:nvPr/>
        </p:nvGraphicFramePr>
        <p:xfrm>
          <a:off x="731520" y="1645920"/>
          <a:ext cx="10515600" cy="3291839"/>
        </p:xfrm>
        <a:graphic>
          <a:graphicData uri="http://schemas.openxmlformats.org/drawingml/2006/table">
            <a:tbl>
              <a:tblPr firstRow="1" bandRow="1">
                <a:tableStyleId>{5C22544A-7EE6-4342-B048-85BDC9FD1C3A}</a:tableStyleId>
              </a:tblPr>
              <a:tblGrid>
                <a:gridCol w="2628900"/>
                <a:gridCol w="2628900"/>
                <a:gridCol w="2628900"/>
                <a:gridCol w="2628900"/>
              </a:tblGrid>
              <a:tr h="548639">
                <a:tc>
                  <a:txBody>
                    <a:bodyPr/>
                    <a:lstStyle/>
                    <a:p>
                      <a:pPr>
                        <a:defRPr b="1" sz="1400">
                          <a:solidFill>
                            <a:srgbClr val="FFFFFF"/>
                          </a:solidFill>
                        </a:defRPr>
                      </a:pPr>
                      <a:r>
                        <a:t>Phage</a:t>
                      </a:r>
                    </a:p>
                  </a:txBody>
                  <a:tcPr>
                    <a:solidFill>
                      <a:srgbClr val="1465C0"/>
                    </a:solidFill>
                  </a:tcPr>
                </a:tc>
                <a:tc>
                  <a:txBody>
                    <a:bodyPr/>
                    <a:lstStyle/>
                    <a:p>
                      <a:pPr>
                        <a:defRPr b="1" sz="1400">
                          <a:solidFill>
                            <a:srgbClr val="FFFFFF"/>
                          </a:solidFill>
                        </a:defRPr>
                      </a:pPr>
                      <a:r>
                        <a:t>EcAZ-2-OVA (R)</a:t>
                      </a:r>
                    </a:p>
                  </a:txBody>
                  <a:tcPr>
                    <a:solidFill>
                      <a:srgbClr val="1465C0"/>
                    </a:solidFill>
                  </a:tcPr>
                </a:tc>
                <a:tc>
                  <a:txBody>
                    <a:bodyPr/>
                    <a:lstStyle/>
                    <a:p>
                      <a:pPr>
                        <a:defRPr b="1" sz="1400">
                          <a:solidFill>
                            <a:srgbClr val="FFFFFF"/>
                          </a:solidFill>
                        </a:defRPr>
                      </a:pPr>
                      <a:r>
                        <a:t>EcAZ-1 (W)</a:t>
                      </a:r>
                    </a:p>
                  </a:txBody>
                  <a:tcPr>
                    <a:solidFill>
                      <a:srgbClr val="1465C0"/>
                    </a:solidFill>
                  </a:tcPr>
                </a:tc>
                <a:tc>
                  <a:txBody>
                    <a:bodyPr/>
                    <a:lstStyle/>
                    <a:p>
                      <a:pPr>
                        <a:defRPr b="1" sz="1400">
                          <a:solidFill>
                            <a:srgbClr val="FFFFFF"/>
                          </a:solidFill>
                        </a:defRPr>
                      </a:pPr>
                      <a:r>
                        <a:t>Host Range</a:t>
                      </a:r>
                    </a:p>
                  </a:txBody>
                  <a:tcPr>
                    <a:solidFill>
                      <a:srgbClr val="1465C0"/>
                    </a:solidFill>
                  </a:tcPr>
                </a:tc>
              </a:tr>
              <a:tr h="548639">
                <a:tc>
                  <a:txBody>
                    <a:bodyPr/>
                    <a:lstStyle/>
                    <a:p>
                      <a:pPr>
                        <a:defRPr sz="1200">
                          <a:solidFill>
                            <a:srgbClr val="333333"/>
                          </a:solidFill>
                        </a:defRPr>
                      </a:pPr>
                      <a:r>
                        <a:t>R1</a:t>
                      </a:r>
                    </a:p>
                  </a:txBody>
                  <a:tcPr/>
                </a:tc>
                <a:tc>
                  <a:txBody>
                    <a:bodyPr/>
                    <a:lstStyle/>
                    <a:p>
                      <a:pPr>
                        <a:defRPr sz="1200">
                          <a:solidFill>
                            <a:srgbClr val="333333"/>
                          </a:solidFill>
                        </a:defRPr>
                      </a:pPr>
                      <a:r>
                        <a:t>+++</a:t>
                      </a:r>
                    </a:p>
                  </a:txBody>
                  <a:tcPr/>
                </a:tc>
                <a:tc>
                  <a:txBody>
                    <a:bodyPr/>
                    <a:lstStyle/>
                    <a:p>
                      <a:pPr>
                        <a:defRPr sz="1200">
                          <a:solidFill>
                            <a:srgbClr val="333333"/>
                          </a:solidFill>
                        </a:defRPr>
                      </a:pPr>
                      <a:r>
                        <a:t>−</a:t>
                      </a:r>
                    </a:p>
                  </a:txBody>
                  <a:tcPr/>
                </a:tc>
                <a:tc>
                  <a:txBody>
                    <a:bodyPr/>
                    <a:lstStyle/>
                    <a:p>
                      <a:pPr>
                        <a:defRPr sz="1200">
                          <a:solidFill>
                            <a:srgbClr val="333333"/>
                          </a:solidFill>
                        </a:defRPr>
                      </a:pPr>
                      <a:r>
                        <a:t>Narrow ⭐</a:t>
                      </a:r>
                    </a:p>
                  </a:txBody>
                  <a:tcPr/>
                </a:tc>
              </a:tr>
              <a:tr h="548639">
                <a:tc>
                  <a:txBody>
                    <a:bodyPr/>
                    <a:lstStyle/>
                    <a:p>
                      <a:pPr>
                        <a:defRPr sz="1200">
                          <a:solidFill>
                            <a:srgbClr val="333333"/>
                          </a:solidFill>
                        </a:defRPr>
                      </a:pPr>
                      <a:r>
                        <a:t>R2</a:t>
                      </a:r>
                    </a:p>
                  </a:txBody>
                  <a:tcPr/>
                </a:tc>
                <a:tc>
                  <a:txBody>
                    <a:bodyPr/>
                    <a:lstStyle/>
                    <a:p>
                      <a:pPr>
                        <a:defRPr sz="1200">
                          <a:solidFill>
                            <a:srgbClr val="333333"/>
                          </a:solidFill>
                        </a:defRPr>
                      </a:pPr>
                      <a:r>
                        <a:t>+++</a:t>
                      </a:r>
                    </a:p>
                  </a:txBody>
                  <a:tcPr/>
                </a:tc>
                <a:tc>
                  <a:txBody>
                    <a:bodyPr/>
                    <a:lstStyle/>
                    <a:p>
                      <a:pPr>
                        <a:defRPr sz="1200">
                          <a:solidFill>
                            <a:srgbClr val="333333"/>
                          </a:solidFill>
                        </a:defRPr>
                      </a:pPr>
                      <a:r>
                        <a:t>+++</a:t>
                      </a:r>
                    </a:p>
                  </a:txBody>
                  <a:tcPr/>
                </a:tc>
                <a:tc>
                  <a:txBody>
                    <a:bodyPr/>
                    <a:lstStyle/>
                    <a:p>
                      <a:pPr>
                        <a:defRPr sz="1200">
                          <a:solidFill>
                            <a:srgbClr val="333333"/>
                          </a:solidFill>
                        </a:defRPr>
                      </a:pPr>
                      <a:r>
                        <a:t>Broad</a:t>
                      </a:r>
                    </a:p>
                  </a:txBody>
                  <a:tcPr/>
                </a:tc>
              </a:tr>
              <a:tr h="548639">
                <a:tc>
                  <a:txBody>
                    <a:bodyPr/>
                    <a:lstStyle/>
                    <a:p>
                      <a:pPr>
                        <a:defRPr sz="1200">
                          <a:solidFill>
                            <a:srgbClr val="333333"/>
                          </a:solidFill>
                        </a:defRPr>
                      </a:pPr>
                      <a:r>
                        <a:t>R3</a:t>
                      </a:r>
                    </a:p>
                  </a:txBody>
                  <a:tcPr/>
                </a:tc>
                <a:tc>
                  <a:txBody>
                    <a:bodyPr/>
                    <a:lstStyle/>
                    <a:p>
                      <a:pPr>
                        <a:defRPr sz="1200">
                          <a:solidFill>
                            <a:srgbClr val="333333"/>
                          </a:solidFill>
                        </a:defRPr>
                      </a:pPr>
                      <a:r>
                        <a:t>+++</a:t>
                      </a:r>
                    </a:p>
                  </a:txBody>
                  <a:tcPr/>
                </a:tc>
                <a:tc>
                  <a:txBody>
                    <a:bodyPr/>
                    <a:lstStyle/>
                    <a:p>
                      <a:pPr>
                        <a:defRPr sz="1200">
                          <a:solidFill>
                            <a:srgbClr val="333333"/>
                          </a:solidFill>
                        </a:defRPr>
                      </a:pPr>
                      <a:r>
                        <a:t>+++</a:t>
                      </a:r>
                    </a:p>
                  </a:txBody>
                  <a:tcPr/>
                </a:tc>
                <a:tc>
                  <a:txBody>
                    <a:bodyPr/>
                    <a:lstStyle/>
                    <a:p>
                      <a:pPr>
                        <a:defRPr sz="1200">
                          <a:solidFill>
                            <a:srgbClr val="333333"/>
                          </a:solidFill>
                        </a:defRPr>
                      </a:pPr>
                      <a:r>
                        <a:t>Broad</a:t>
                      </a:r>
                    </a:p>
                  </a:txBody>
                  <a:tcPr/>
                </a:tc>
              </a:tr>
              <a:tr h="548639">
                <a:tc>
                  <a:txBody>
                    <a:bodyPr/>
                    <a:lstStyle/>
                    <a:p>
                      <a:pPr>
                        <a:defRPr sz="1200">
                          <a:solidFill>
                            <a:srgbClr val="333333"/>
                          </a:solidFill>
                        </a:defRPr>
                      </a:pPr>
                      <a:r>
                        <a:t>W1</a:t>
                      </a:r>
                    </a:p>
                  </a:txBody>
                  <a:tcPr/>
                </a:tc>
                <a:tc>
                  <a:txBody>
                    <a:bodyPr/>
                    <a:lstStyle/>
                    <a:p>
                      <a:pPr>
                        <a:defRPr sz="1200">
                          <a:solidFill>
                            <a:srgbClr val="333333"/>
                          </a:solidFill>
                        </a:defRPr>
                      </a:pPr>
                      <a:r>
                        <a:t>+++</a:t>
                      </a:r>
                    </a:p>
                  </a:txBody>
                  <a:tcPr/>
                </a:tc>
                <a:tc>
                  <a:txBody>
                    <a:bodyPr/>
                    <a:lstStyle/>
                    <a:p>
                      <a:pPr>
                        <a:defRPr sz="1200">
                          <a:solidFill>
                            <a:srgbClr val="333333"/>
                          </a:solidFill>
                        </a:defRPr>
                      </a:pPr>
                      <a:r>
                        <a:t>+++</a:t>
                      </a:r>
                    </a:p>
                  </a:txBody>
                  <a:tcPr/>
                </a:tc>
                <a:tc>
                  <a:txBody>
                    <a:bodyPr/>
                    <a:lstStyle/>
                    <a:p>
                      <a:pPr>
                        <a:defRPr sz="1200">
                          <a:solidFill>
                            <a:srgbClr val="333333"/>
                          </a:solidFill>
                        </a:defRPr>
                      </a:pPr>
                      <a:r>
                        <a:t>Broad</a:t>
                      </a:r>
                    </a:p>
                  </a:txBody>
                  <a:tcPr/>
                </a:tc>
              </a:tr>
              <a:tr h="548644">
                <a:tc>
                  <a:txBody>
                    <a:bodyPr/>
                    <a:lstStyle/>
                    <a:p>
                      <a:pPr>
                        <a:defRPr sz="1200">
                          <a:solidFill>
                            <a:srgbClr val="333333"/>
                          </a:solidFill>
                        </a:defRPr>
                      </a:pPr>
                      <a:r>
                        <a:t>W2</a:t>
                      </a:r>
                    </a:p>
                  </a:txBody>
                  <a:tcPr/>
                </a:tc>
                <a:tc>
                  <a:txBody>
                    <a:bodyPr/>
                    <a:lstStyle/>
                    <a:p>
                      <a:pPr>
                        <a:defRPr sz="1200">
                          <a:solidFill>
                            <a:srgbClr val="333333"/>
                          </a:solidFill>
                        </a:defRPr>
                      </a:pPr>
                      <a:r>
                        <a:t>+++</a:t>
                      </a:r>
                    </a:p>
                  </a:txBody>
                  <a:tcPr/>
                </a:tc>
                <a:tc>
                  <a:txBody>
                    <a:bodyPr/>
                    <a:lstStyle/>
                    <a:p>
                      <a:pPr>
                        <a:defRPr sz="1200">
                          <a:solidFill>
                            <a:srgbClr val="333333"/>
                          </a:solidFill>
                        </a:defRPr>
                      </a:pPr>
                      <a:r>
                        <a:t>+++</a:t>
                      </a:r>
                    </a:p>
                  </a:txBody>
                  <a:tcPr/>
                </a:tc>
                <a:tc>
                  <a:txBody>
                    <a:bodyPr/>
                    <a:lstStyle/>
                    <a:p>
                      <a:pPr>
                        <a:defRPr sz="1200">
                          <a:solidFill>
                            <a:srgbClr val="333333"/>
                          </a:solidFill>
                        </a:defRPr>
                      </a:pPr>
                      <a:r>
                        <a:t>Broad</a:t>
                      </a:r>
                    </a:p>
                  </a:txBody>
                  <a:tcPr/>
                </a:tc>
              </a:tr>
            </a:tbl>
          </a:graphicData>
        </a:graphic>
      </p:graphicFrame>
      <p:sp>
        <p:nvSpPr>
          <p:cNvPr id="7" name="TextBox 6"/>
          <p:cNvSpPr txBox="1"/>
          <p:nvPr/>
        </p:nvSpPr>
        <p:spPr>
          <a:xfrm>
            <a:off x="10972800" y="6400800"/>
            <a:ext cx="914400" cy="365760"/>
          </a:xfrm>
          <a:prstGeom prst="rect">
            <a:avLst/>
          </a:prstGeom>
          <a:noFill/>
        </p:spPr>
        <p:txBody>
          <a:bodyPr wrap="square">
            <a:spAutoFit/>
          </a:bodyPr>
          <a:lstStyle/>
          <a:p>
            <a:pPr algn="r">
              <a:defRPr sz="1200" b="0">
                <a:solidFill>
                  <a:srgbClr val="333333"/>
                </a:solidFill>
                <a:latin typeface="Aria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7315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a:spAutoFit/>
          </a:bodyPr>
          <a:lstStyle/>
          <a:p>
            <a:pPr algn="l">
              <a:defRPr sz="2800" b="1">
                <a:solidFill>
                  <a:srgbClr val="FFFFFF"/>
                </a:solidFill>
                <a:latin typeface="Arial"/>
              </a:defRPr>
            </a:pPr>
            <a:r>
              <a:t>Titer Determination Progress</a:t>
            </a:r>
          </a:p>
        </p:txBody>
      </p:sp>
      <p:pic>
        <p:nvPicPr>
          <p:cNvPr id="5" name="Picture 4" descr="logo.png"/>
          <p:cNvPicPr>
            <a:picLocks noChangeAspect="1"/>
          </p:cNvPicPr>
          <p:nvPr/>
        </p:nvPicPr>
        <p:blipFill>
          <a:blip r:embed="rId2"/>
          <a:stretch>
            <a:fillRect/>
          </a:stretch>
        </p:blipFill>
        <p:spPr>
          <a:xfrm>
            <a:off x="10515600" y="228600"/>
            <a:ext cx="1193521" cy="640080"/>
          </a:xfrm>
          <a:prstGeom prst="rect">
            <a:avLst/>
          </a:prstGeom>
        </p:spPr>
      </p:pic>
      <p:sp>
        <p:nvSpPr>
          <p:cNvPr id="6" name="TextBox 5"/>
          <p:cNvSpPr txBox="1"/>
          <p:nvPr/>
        </p:nvSpPr>
        <p:spPr>
          <a:xfrm>
            <a:off x="457200" y="1463040"/>
            <a:ext cx="5303520" cy="4572000"/>
          </a:xfrm>
          <a:prstGeom prst="rect">
            <a:avLst/>
          </a:prstGeom>
          <a:noFill/>
        </p:spPr>
        <p:txBody>
          <a:bodyPr wrap="square">
            <a:spAutoFit/>
          </a:bodyPr>
          <a:lstStyle/>
          <a:p>
            <a:pPr algn="l">
              <a:defRPr sz="1800" b="0">
                <a:solidFill>
                  <a:srgbClr val="333333"/>
                </a:solidFill>
                <a:latin typeface="Arial"/>
              </a:defRPr>
            </a:pPr>
            <a:r>
              <a:t>• Status: In progress</a:t>
            </a:r>
            <a:br/>
            <a:r>
              <a:t>• Jan 14: Strain activation</a:t>
            </a:r>
            <a:br/>
            <a:r>
              <a:t>• Jan 15: Streak plating, colony picking</a:t>
            </a:r>
            <a:br/>
            <a:r>
              <a:t>• Jan 16: Double-layer agar plating completed</a:t>
            </a:r>
            <a:br/>
            <a:r>
              <a:t>• Dilution range: 10⁻⁸ ~ 10⁻¹⁴</a:t>
            </a:r>
            <a:br/>
            <a:r>
              <a:t>• Results expected tomorrow</a:t>
            </a:r>
          </a:p>
        </p:txBody>
      </p:sp>
      <p:sp>
        <p:nvSpPr>
          <p:cNvPr id="7" name="Rectangle 6"/>
          <p:cNvSpPr/>
          <p:nvPr/>
        </p:nvSpPr>
        <p:spPr>
          <a:xfrm>
            <a:off x="6217920" y="1645920"/>
            <a:ext cx="5486400" cy="4114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3474720"/>
            <a:ext cx="4114800" cy="548640"/>
          </a:xfrm>
          <a:prstGeom prst="rect">
            <a:avLst/>
          </a:prstGeom>
          <a:noFill/>
        </p:spPr>
        <p:txBody>
          <a:bodyPr wrap="square">
            <a:spAutoFit/>
          </a:bodyPr>
          <a:lstStyle/>
          <a:p>
            <a:pPr algn="ctr">
              <a:defRPr sz="1600" b="0">
                <a:solidFill>
                  <a:srgbClr val="333333"/>
                </a:solidFill>
                <a:latin typeface="Arial"/>
              </a:defRPr>
            </a:pPr>
            <a:r>
              <a:t>Experiment Progress</a:t>
            </a:r>
          </a:p>
        </p:txBody>
      </p:sp>
      <p:sp>
        <p:nvSpPr>
          <p:cNvPr id="9" name="TextBox 8"/>
          <p:cNvSpPr txBox="1"/>
          <p:nvPr/>
        </p:nvSpPr>
        <p:spPr>
          <a:xfrm>
            <a:off x="10972800" y="6400800"/>
            <a:ext cx="914400" cy="365760"/>
          </a:xfrm>
          <a:prstGeom prst="rect">
            <a:avLst/>
          </a:prstGeom>
          <a:noFill/>
        </p:spPr>
        <p:txBody>
          <a:bodyPr wrap="square">
            <a:spAutoFit/>
          </a:bodyPr>
          <a:lstStyle/>
          <a:p>
            <a:pPr algn="r">
              <a:defRPr sz="1200" b="0">
                <a:solidFill>
                  <a:srgbClr val="333333"/>
                </a:solidFill>
                <a:latin typeface="Aria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7315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a:spAutoFit/>
          </a:bodyPr>
          <a:lstStyle/>
          <a:p>
            <a:pPr algn="l">
              <a:defRPr sz="2800" b="1">
                <a:solidFill>
                  <a:srgbClr val="FFFFFF"/>
                </a:solidFill>
                <a:latin typeface="Arial"/>
              </a:defRPr>
            </a:pPr>
            <a:r>
              <a:t>Conclusions &amp; Future Plans</a:t>
            </a:r>
          </a:p>
        </p:txBody>
      </p:sp>
      <p:pic>
        <p:nvPicPr>
          <p:cNvPr id="5" name="Picture 4" descr="logo.png"/>
          <p:cNvPicPr>
            <a:picLocks noChangeAspect="1"/>
          </p:cNvPicPr>
          <p:nvPr/>
        </p:nvPicPr>
        <p:blipFill>
          <a:blip r:embed="rId2"/>
          <a:stretch>
            <a:fillRect/>
          </a:stretch>
        </p:blipFill>
        <p:spPr>
          <a:xfrm>
            <a:off x="10515600" y="228600"/>
            <a:ext cx="1193521" cy="640080"/>
          </a:xfrm>
          <a:prstGeom prst="rect">
            <a:avLst/>
          </a:prstGeom>
        </p:spPr>
      </p:pic>
      <p:sp>
        <p:nvSpPr>
          <p:cNvPr id="6" name="Oval 5"/>
          <p:cNvSpPr/>
          <p:nvPr/>
        </p:nvSpPr>
        <p:spPr>
          <a:xfrm>
            <a:off x="548640" y="1737360"/>
            <a:ext cx="228600" cy="22860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10058400" cy="731520"/>
          </a:xfrm>
          <a:prstGeom prst="rect">
            <a:avLst/>
          </a:prstGeom>
          <a:noFill/>
        </p:spPr>
        <p:txBody>
          <a:bodyPr wrap="square">
            <a:spAutoFit/>
          </a:bodyPr>
          <a:lstStyle/>
          <a:p>
            <a:pPr algn="l">
              <a:defRPr sz="1800" b="0">
                <a:solidFill>
                  <a:srgbClr val="333333"/>
                </a:solidFill>
                <a:latin typeface="Arial"/>
              </a:defRPr>
            </a:pPr>
            <a:r>
              <a:t>Successfully isolated 5 phages (R1-R3, W1-W2)</a:t>
            </a:r>
          </a:p>
        </p:txBody>
      </p:sp>
      <p:sp>
        <p:nvSpPr>
          <p:cNvPr id="8" name="Oval 7"/>
          <p:cNvSpPr/>
          <p:nvPr/>
        </p:nvSpPr>
        <p:spPr>
          <a:xfrm>
            <a:off x="548640" y="2560320"/>
            <a:ext cx="228600" cy="22860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058400" cy="731520"/>
          </a:xfrm>
          <a:prstGeom prst="rect">
            <a:avLst/>
          </a:prstGeom>
          <a:noFill/>
        </p:spPr>
        <p:txBody>
          <a:bodyPr wrap="square">
            <a:spAutoFit/>
          </a:bodyPr>
          <a:lstStyle/>
          <a:p>
            <a:pPr algn="l">
              <a:defRPr sz="1800" b="0">
                <a:solidFill>
                  <a:srgbClr val="333333"/>
                </a:solidFill>
                <a:latin typeface="Arial"/>
              </a:defRPr>
            </a:pPr>
            <a:r>
              <a:t>R1 is the only narrow-host-range phage, infecting only EcAZ-2-OVA</a:t>
            </a:r>
          </a:p>
        </p:txBody>
      </p:sp>
      <p:sp>
        <p:nvSpPr>
          <p:cNvPr id="10" name="Oval 9"/>
          <p:cNvSpPr/>
          <p:nvPr/>
        </p:nvSpPr>
        <p:spPr>
          <a:xfrm>
            <a:off x="548640" y="3383280"/>
            <a:ext cx="228600" cy="22860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291840"/>
            <a:ext cx="10058400" cy="731520"/>
          </a:xfrm>
          <a:prstGeom prst="rect">
            <a:avLst/>
          </a:prstGeom>
          <a:noFill/>
        </p:spPr>
        <p:txBody>
          <a:bodyPr wrap="square">
            <a:spAutoFit/>
          </a:bodyPr>
          <a:lstStyle/>
          <a:p>
            <a:pPr algn="l">
              <a:defRPr sz="1800" b="0">
                <a:solidFill>
                  <a:srgbClr val="333333"/>
                </a:solidFill>
                <a:latin typeface="Arial"/>
              </a:defRPr>
            </a:pPr>
            <a:r>
              <a:t>R3 shows high-titer characteristics, requiring high dilution detection</a:t>
            </a:r>
          </a:p>
        </p:txBody>
      </p:sp>
      <p:sp>
        <p:nvSpPr>
          <p:cNvPr id="12" name="TextBox 11"/>
          <p:cNvSpPr txBox="1"/>
          <p:nvPr/>
        </p:nvSpPr>
        <p:spPr>
          <a:xfrm>
            <a:off x="457200" y="4389120"/>
            <a:ext cx="3657600" cy="457200"/>
          </a:xfrm>
          <a:prstGeom prst="rect">
            <a:avLst/>
          </a:prstGeom>
          <a:noFill/>
        </p:spPr>
        <p:txBody>
          <a:bodyPr wrap="square">
            <a:spAutoFit/>
          </a:bodyPr>
          <a:lstStyle/>
          <a:p>
            <a:pPr algn="l">
              <a:defRPr sz="1800" b="1">
                <a:solidFill>
                  <a:srgbClr val="1465C0"/>
                </a:solidFill>
                <a:latin typeface="Arial"/>
              </a:defRPr>
            </a:pPr>
            <a:r>
              <a:t>Next Steps:</a:t>
            </a:r>
          </a:p>
        </p:txBody>
      </p:sp>
      <p:sp>
        <p:nvSpPr>
          <p:cNvPr id="13" name="TextBox 12"/>
          <p:cNvSpPr txBox="1"/>
          <p:nvPr/>
        </p:nvSpPr>
        <p:spPr>
          <a:xfrm>
            <a:off x="457200" y="4846320"/>
            <a:ext cx="10972800" cy="1371600"/>
          </a:xfrm>
          <a:prstGeom prst="rect">
            <a:avLst/>
          </a:prstGeom>
          <a:noFill/>
        </p:spPr>
        <p:txBody>
          <a:bodyPr wrap="square">
            <a:spAutoFit/>
          </a:bodyPr>
          <a:lstStyle/>
          <a:p>
            <a:pPr algn="l">
              <a:defRPr sz="1600" b="0">
                <a:solidFill>
                  <a:srgbClr val="333333"/>
                </a:solidFill>
                <a:latin typeface="Arial"/>
              </a:defRPr>
            </a:pPr>
            <a:r>
              <a:t>• Complete titer determination (this week)</a:t>
            </a:r>
            <a:br/>
            <a:r>
              <a:t>• One-step growth curve experiments</a:t>
            </a:r>
            <a:br/>
            <a:r>
              <a:t>• DNA extraction and genome sequencing</a:t>
            </a:r>
          </a:p>
        </p:txBody>
      </p:sp>
      <p:sp>
        <p:nvSpPr>
          <p:cNvPr id="14" name="TextBox 13"/>
          <p:cNvSpPr txBox="1"/>
          <p:nvPr/>
        </p:nvSpPr>
        <p:spPr>
          <a:xfrm>
            <a:off x="10972800" y="6400800"/>
            <a:ext cx="914400" cy="365760"/>
          </a:xfrm>
          <a:prstGeom prst="rect">
            <a:avLst/>
          </a:prstGeom>
          <a:noFill/>
        </p:spPr>
        <p:txBody>
          <a:bodyPr wrap="square">
            <a:spAutoFit/>
          </a:bodyPr>
          <a:lstStyle/>
          <a:p>
            <a:pPr algn="r">
              <a:defRPr sz="1200" b="0">
                <a:solidFill>
                  <a:srgbClr val="333333"/>
                </a:solidFill>
                <a:latin typeface="Aria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88952" cy="9144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2286000"/>
            <a:ext cx="12188952" cy="1371600"/>
          </a:xfrm>
          <a:prstGeom prst="rect">
            <a:avLst/>
          </a:prstGeom>
          <a:noFill/>
        </p:spPr>
        <p:txBody>
          <a:bodyPr wrap="square">
            <a:spAutoFit/>
          </a:bodyPr>
          <a:lstStyle/>
          <a:p>
            <a:pPr algn="ctr">
              <a:defRPr sz="5600" b="1">
                <a:solidFill>
                  <a:srgbClr val="FFFFFF"/>
                </a:solidFill>
                <a:latin typeface="Arial"/>
              </a:defRPr>
            </a:pPr>
            <a:r>
              <a:t>Thank You</a:t>
            </a:r>
          </a:p>
        </p:txBody>
      </p:sp>
      <p:sp>
        <p:nvSpPr>
          <p:cNvPr id="5" name="TextBox 4"/>
          <p:cNvSpPr txBox="1"/>
          <p:nvPr/>
        </p:nvSpPr>
        <p:spPr>
          <a:xfrm>
            <a:off x="0" y="3657600"/>
            <a:ext cx="12188952" cy="731520"/>
          </a:xfrm>
          <a:prstGeom prst="rect">
            <a:avLst/>
          </a:prstGeom>
          <a:noFill/>
        </p:spPr>
        <p:txBody>
          <a:bodyPr wrap="square">
            <a:spAutoFit/>
          </a:bodyPr>
          <a:lstStyle/>
          <a:p>
            <a:pPr algn="ctr">
              <a:defRPr sz="2400" b="0">
                <a:solidFill>
                  <a:srgbClr val="81C784"/>
                </a:solidFill>
                <a:latin typeface="Arial"/>
              </a:defRPr>
            </a:pPr>
            <a:r>
              <a:t>Questions &amp; Discussion</a:t>
            </a:r>
          </a:p>
        </p:txBody>
      </p:sp>
      <p:pic>
        <p:nvPicPr>
          <p:cNvPr id="6" name="Picture 5" descr="logo.png"/>
          <p:cNvPicPr>
            <a:picLocks noChangeAspect="1"/>
          </p:cNvPicPr>
          <p:nvPr/>
        </p:nvPicPr>
        <p:blipFill>
          <a:blip r:embed="rId2"/>
          <a:stretch>
            <a:fillRect/>
          </a:stretch>
        </p:blipFill>
        <p:spPr>
          <a:xfrm>
            <a:off x="5394960" y="6035040"/>
            <a:ext cx="1193521" cy="640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