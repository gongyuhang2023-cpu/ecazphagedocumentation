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各位老师、同学，大家好！</a:t>
            </a:r>
          </a:p>
          <a:p/>
          <a:p>
            <a:r>
              <a:t>今天我来汇报EcAZ噬菌体项目的最新进展。这个项目的目标是从污水中分离能够感染EcAZ大肠杆菌的噬菌体，为后续的噬菌体疗法研究奠定基础。</a:t>
            </a:r>
          </a:p>
          <a:p/>
          <a:p>
            <a:r>
              <a:t>接下来，我将从项目背景、分离结果、宿主范围、滴度测定进展等方面进行介绍。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首先介绍一下项目背景。</a:t>
            </a:r>
          </a:p>
          <a:p/>
          <a:p>
            <a:r>
              <a:t>我们的核心目标是从污水中分离能够感染EcAZ大肠杆菌的噬菌体。为什么选择污水作为样本来源？因为污水是噬菌体的天然富集库，含有丰富的噬菌体多样性。</a:t>
            </a:r>
          </a:p>
          <a:p/>
          <a:p>
            <a:r>
              <a:t>我们使用两种宿主菌进行筛选：EcAZ-1是野生型，我们简称W菌；EcAZ-2-OVA是表达OVA抗原的工程菌株，简称R菌。</a:t>
            </a:r>
          </a:p>
          <a:p/>
          <a:p>
            <a:r>
              <a:t>这个项目的最终应用方向是噬菌体疗法研究，筛选到的噬菌体将用于后续的治疗效果评估。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经过多轮富集和纯化，我们成功分离了5株噬菌体。</a:t>
            </a:r>
          </a:p>
          <a:p/>
          <a:p>
            <a:r>
              <a:t>表格展示了各噬菌体的基本信息。R1、R2、R3是用R菌富集得到的，W1、W2是用W菌富集得到的。</a:t>
            </a:r>
          </a:p>
          <a:p/>
          <a:p>
            <a:r>
              <a:t>值得注意的是，这5株噬菌体的斑块形态各不相同。R1产生极小的斑块，R2产生浑浊斑块——这可能暗示它是温和性噬菌体。R3最引人注目，产生大而清晰的斑块，滴度很高。</a:t>
            </a:r>
          </a:p>
          <a:p/>
          <a:p>
            <a:r>
              <a:t>每株噬菌体都经过了4-6轮的反复纯化，确保是纯培养物。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接下来是宿主范围测定的结果，这里有一个非常重要的发现！</a:t>
            </a:r>
          </a:p>
          <a:p/>
          <a:p>
            <a:r>
              <a:t>请大家注意表格中R1这一行——它只能感染R菌，而完全不能感染W菌。这是我们分离的5株噬菌体中唯一的窄宿主范围噬菌体！</a:t>
            </a:r>
          </a:p>
          <a:p/>
          <a:p>
            <a:r>
              <a:t>为什么R1只能感染R菌？一个可能的解释是，R菌表达的OVA蛋白改变了细胞表面结构，而R1正好利用了这个独特的受体。这个特性使R1成为非常有价值的研究对象。</a:t>
            </a:r>
          </a:p>
          <a:p/>
          <a:p>
            <a:r>
              <a:t>其他4株噬菌体都是广宿主范围，能同时感染两种菌株。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目前滴度测定实验正在进行中。</a:t>
            </a:r>
          </a:p>
          <a:p/>
          <a:p>
            <a:r>
              <a:t>让我简要介绍一下实验进度：1月14日我们完成了菌种活化，1月15日进行了划板培养并挑取单克隆，今天1月16日已经完成了双层琼脂法铺板。</a:t>
            </a:r>
          </a:p>
          <a:p/>
          <a:p>
            <a:r>
              <a:t>由于R3在之前的实验中显示出很高的滴度，我们这次采用了较高的稀释梯度，从10的负8次方到10的负14次方。</a:t>
            </a:r>
          </a:p>
          <a:p/>
          <a:p>
            <a:r>
              <a:t>预计明天就能观察到结果，届时我们就能精确计算各噬菌体的滴度了。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最后总结一下我们的主要发现和下一步计划。</a:t>
            </a:r>
          </a:p>
          <a:p/>
          <a:p>
            <a:r>
              <a:t>主要发现有三点：第一，我们成功从污水中分离了5株噬菌体；第二，R1是唯一的窄宿主范围噬菌体，这是一个非常有价值的发现，值得深入研究其分子机制；第三，R3显示出很高的滴度，适合用于后续的大量制备。</a:t>
            </a:r>
          </a:p>
          <a:p/>
          <a:p>
            <a:r>
              <a:t>下一步计划：本周完成滴度测定后，我们将进行一步生长曲线实验来表征噬菌体的复制动力学，随后进行DNA提取和基因组测序，全面了解这些噬菌体的遗传特征。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感谢各位老师和同学的聆听！</a:t>
            </a:r>
          </a:p>
          <a:p/>
          <a:p>
            <a:r>
              <a:t>如果大家有任何问题或建议，非常欢迎讨论。特别是关于R1窄宿主范围的机制，我很想听听大家的看法。</a:t>
            </a:r>
          </a:p>
          <a:p/>
          <a:p>
            <a:r>
              <a:t>谢谢！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217920"/>
            <a:ext cx="11887200" cy="6400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D47A1"/>
                </a:solidFill>
                <a:latin typeface="Arial"/>
              </a:defRPr>
            </a:pPr>
            <a:r>
              <a:t>EcAZ噬菌体项目进展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33333"/>
                </a:solidFill>
                <a:latin typeface="Arial"/>
              </a:defRPr>
            </a:pPr>
            <a:r>
              <a:t>Group Meeting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Arial"/>
              </a:defRPr>
            </a:pPr>
            <a:r>
              <a:t>龚宇航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2026-01-16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0"/>
            <a:ext cx="2011680" cy="10788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项目背景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193521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目标：从污水中分离感染EcAZ大肠杆菌的噬菌体</a:t>
            </a:r>
            <a:br/>
            <a:r>
              <a:t>• 宿主菌：EcAZ-1 (W菌, 野生型)</a:t>
            </a:r>
            <a:br/>
            <a:r>
              <a:t>• 宿主菌：EcAZ-2-OVA (R菌, 表达OVA)</a:t>
            </a:r>
            <a:br/>
            <a:r>
              <a:t>• 应用方向：噬菌体疗法研究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噬菌体分离结果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193521" cy="6400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5156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48639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噬菌体</a:t>
                      </a:r>
                    </a:p>
                  </a:txBody>
                  <a:tcPr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富集宿主</a:t>
                      </a:r>
                    </a:p>
                  </a:txBody>
                  <a:tcPr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斑块特征</a:t>
                      </a:r>
                    </a:p>
                  </a:txBody>
                  <a:tcPr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提纯轮数</a:t>
                      </a:r>
                    </a:p>
                  </a:txBody>
                  <a:tcPr>
                    <a:solidFill>
                      <a:srgbClr val="1465C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EcAZ-2-OVA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极小斑块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4-5轮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EcAZ-2-OVA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浑浊斑块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4-5轮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EcAZ-2-OVA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大斑块，高滴度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4-5轮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EcAZ-1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小斑块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5-6轮</a:t>
                      </a:r>
                    </a:p>
                  </a:txBody>
                  <a:tcPr/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EcAZ-1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中等斑块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5-6轮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宿主范围测定结果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193521" cy="6400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5156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48639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噬菌体</a:t>
                      </a:r>
                    </a:p>
                  </a:txBody>
                  <a:tcPr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EcAZ-2-OVA (R)</a:t>
                      </a:r>
                    </a:p>
                  </a:txBody>
                  <a:tcPr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EcAZ-1 (W)</a:t>
                      </a:r>
                    </a:p>
                  </a:txBody>
                  <a:tcPr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宿主范围</a:t>
                      </a:r>
                    </a:p>
                  </a:txBody>
                  <a:tcPr>
                    <a:solidFill>
                      <a:srgbClr val="1465C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窄 ⭐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广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广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广</a:t>
                      </a:r>
                    </a:p>
                  </a:txBody>
                  <a:tcPr/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广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滴度测定进展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193521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Arial"/>
              </a:defRPr>
            </a:pPr>
            <a:r>
              <a:t>• 实验状态：进行中</a:t>
            </a:r>
            <a:br/>
            <a:r>
              <a:t>• 1月14日：菌种活化</a:t>
            </a:r>
            <a:br/>
            <a:r>
              <a:t>• 1月15日：划板培养、挑单克隆</a:t>
            </a:r>
            <a:br/>
            <a:r>
              <a:t>• 1月16日：双层琼脂法铺板完成</a:t>
            </a:r>
            <a:br/>
            <a:r>
              <a:t>• 稀释梯度：10⁻⁸ ~ 10⁻¹⁴</a:t>
            </a:r>
            <a:br/>
            <a:r>
              <a:t>• 预计明日观察结果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48640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34747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Arial"/>
              </a:defRPr>
            </a:pPr>
            <a:r>
              <a:t>实验进度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结论与下一步计划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193521" cy="64008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48640" y="1737360"/>
            <a:ext cx="228600" cy="2286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Arial"/>
              </a:defRPr>
            </a:pPr>
            <a:r>
              <a:t>成功分离5株噬菌体（R1-R3, W1-W2）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60320"/>
            <a:ext cx="228600" cy="2286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Arial"/>
              </a:defRPr>
            </a:pPr>
            <a:r>
              <a:t>R1是唯一的窄宿主范围噬菌体，仅感染EcAZ-2-OVA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383280"/>
            <a:ext cx="228600" cy="2286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Arial"/>
              </a:defRPr>
            </a:pPr>
            <a:r>
              <a:t>R3显示高滴度特性，需高稀释度检测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65C0"/>
                </a:solidFill>
                <a:latin typeface="Arial"/>
              </a:defRPr>
            </a:pPr>
            <a:r>
              <a:t>Next Steps: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• 完成滴度测定（本周）</a:t>
            </a:r>
            <a:br/>
            <a:r>
              <a:t>• 一步生长曲线实验</a:t>
            </a:r>
            <a:br/>
            <a:r>
              <a:t>• DNA提取与基因组测序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1C784"/>
                </a:solidFill>
                <a:latin typeface="Arial"/>
              </a:defRPr>
            </a:pPr>
            <a:r>
              <a:t>Questions &amp; Discussion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035040"/>
            <a:ext cx="1193521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