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各位老师、同学，大家好！今天我来汇报EcAZ噬菌体项目的最新进展。</a:t>
            </a:r>
          </a:p>
          <a:p/>
          <a:p>
            <a:r>
              <a:t>这个项目的目标是从污水中分离能够感染EcAZ大肠杆菌的噬菌体。我们使用两种宿主菌：野生型W菌和表达OVA的R菌。</a:t>
            </a:r>
          </a:p>
          <a:p/>
          <a:p>
            <a:r>
              <a:t>接下来我将从噬菌体分离、宿主范围、滴度和杀菌曲线四个方面进行介绍。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这张表总结了5株噬菌体的核心特征。</a:t>
            </a:r>
          </a:p>
          <a:p/>
          <a:p>
            <a:r>
              <a:t>重点关注三个发现：</a:t>
            </a:r>
          </a:p>
          <a:p/>
          <a:p>
            <a:r>
              <a:t>第一，R1是唯一的窄宿主范围噬菌体，只能感染R菌，不能感染W菌。这可能与R菌表面的OVA蛋白有关。</a:t>
            </a:r>
          </a:p>
          <a:p/>
          <a:p>
            <a:r>
              <a:t>第二，R2是唯一产生浑浊斑块的噬菌体，提示它可能是温和性噬菌体。</a:t>
            </a:r>
          </a:p>
          <a:p/>
          <a:p>
            <a:r>
              <a:t>第三，R3斑块最大，直径超过3毫米，是R1的15倍以上。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这是5株噬菌体的斑块照片。</a:t>
            </a:r>
          </a:p>
          <a:p/>
          <a:p>
            <a:r>
              <a:t>可以看到明显的差异：</a:t>
            </a:r>
          </a:p>
          <a:p/>
          <a:p>
            <a:r>
              <a:t>R1的斑块非常小，几乎看不见，需要仔细观察。</a:t>
            </a:r>
          </a:p>
          <a:p/>
          <a:p>
            <a:r>
              <a:t>R2的斑块呈浑浊状态，这是温和性噬菌体的典型特征。</a:t>
            </a:r>
          </a:p>
          <a:p/>
          <a:p>
            <a:r>
              <a:t>R3的斑块最大最清晰，而且可以看到大小不均一的现象，这是由于噬菌体具有spreading特性，斑块会随时间扩大。</a:t>
            </a:r>
          </a:p>
          <a:p/>
          <a:p>
            <a:r>
              <a:t>W1和W2的斑块大小介于中间，都是清晰的透明斑。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这是杀菌曲线实验的核心结果。</a:t>
            </a:r>
          </a:p>
          <a:p/>
          <a:p>
            <a:r>
              <a:t>左图是W菌的杀菌曲线：W1在MOI=10时裂解最快，仅56分钟开始裂解；W2在MOI=1时效率最高。</a:t>
            </a:r>
          </a:p>
          <a:p/>
          <a:p>
            <a:r>
              <a:t>右图是R菌的杀菌曲线：R3表现最佳，所有MOI在30-45分钟内即可完成裂解，是5株噬菌体中杀菌效率最高的。R1效果中等。R2几乎无裂解，进一步证实了它是温和性噬菌体。</a:t>
            </a:r>
          </a:p>
          <a:p/>
          <a:p>
            <a:r>
              <a:t>实验条件：37°C，BioTek Epoch 2酶标仪，12小时连续监测。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这张表总结了杀菌曲线的关键结果。</a:t>
            </a:r>
          </a:p>
          <a:p/>
          <a:p>
            <a:r>
              <a:t>R3是最值得关注的噬菌体：裂解速度最快（30分钟），效率最高，而且对MOI要求不高，即使MOI=0.01也能有效裂解。</a:t>
            </a:r>
          </a:p>
          <a:p/>
          <a:p>
            <a:r>
              <a:t>W1裂解速度也很快，MOI=10时56分钟即开始裂解。</a:t>
            </a:r>
          </a:p>
          <a:p/>
          <a:p>
            <a:r>
              <a:t>R2几乎没有裂解效果，结合之前观察到的浑浊斑块，可以确认R2是温和性噬菌体，可能进入溶原周期而非裂解周期。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总结我们的主要发现：</a:t>
            </a:r>
          </a:p>
          <a:p/>
          <a:p>
            <a:r>
              <a:t>成功从污水中分离了5株能感染EcAZ大肠杆菌的噬菌体。</a:t>
            </a:r>
          </a:p>
          <a:p/>
          <a:p>
            <a:r>
              <a:t>其中R1是唯一的窄宿主范围噬菌体，只感染R菌，可能识别OVA相关受体。</a:t>
            </a:r>
          </a:p>
          <a:p/>
          <a:p>
            <a:r>
              <a:t>R2被证实是温和性噬菌体，后续可研究其溶原机制。</a:t>
            </a:r>
          </a:p>
          <a:p/>
          <a:p>
            <a:r>
              <a:t>R3是杀菌效率最佳的噬菌体，适合作为噬菌体疗法的候选。</a:t>
            </a:r>
          </a:p>
          <a:p/>
          <a:p>
            <a:r>
              <a:t>下一步我们将进行一步生长曲线实验，然后提取DNA测序，并用电镜观察噬菌体形态。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感谢各位老师和同学的聆听！</a:t>
            </a:r>
          </a:p>
          <a:p/>
          <a:p>
            <a:r>
              <a:t>欢迎提问和讨论。谢谢！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D47A1"/>
                </a:solidFill>
              </a:defRPr>
            </a:pPr>
            <a:r>
              <a:t>EcAZ噬菌体项目进展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57575"/>
                </a:solidFill>
              </a:defRPr>
            </a:pPr>
            <a:r>
              <a:t>Group Meeting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龚宇航  |  2026-01-26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噬菌体分离与表征总结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噬菌体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斑块直径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斑块特征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宿主范围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滴度 (PFU/mL)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4CAF50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0.1-0.2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极小，透明，有晕环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4CAF50"/>
                          </a:solidFill>
                        </a:defRPr>
                      </a:pPr>
                      <a:r>
                        <a:t>窄（仅R菌）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~2.5×10¹⁰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1.8±0.3 mm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4CAF50"/>
                          </a:solidFill>
                        </a:defRPr>
                      </a:pPr>
                      <a:r>
                        <a:t>浑浊，无晕环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~3.7×10¹⁴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4CAF50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3.2±0.8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最大，透明，有晕环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~8.7×10¹⁰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W1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~0.5 mm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小，透明，有晕环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~6×10¹²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W2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2.2±0.4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中等，透明，有晕环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~3.5×10¹⁴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R1: 唯一窄宿主范围 | R2: 浑浊斑块（温和性噬菌体）| R3: 最大斑块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斑块形态学照片</a:t>
            </a:r>
          </a:p>
        </p:txBody>
      </p:sp>
      <p:pic>
        <p:nvPicPr>
          <p:cNvPr id="4" name="Picture 3" descr="R1_展示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92024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703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R1 (极小斑块, 0.1-0.2mm)</a:t>
            </a:r>
          </a:p>
        </p:txBody>
      </p:sp>
      <p:pic>
        <p:nvPicPr>
          <p:cNvPr id="6" name="Picture 5" descr="R2_展示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097280"/>
            <a:ext cx="192024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70248" y="3703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R2 (浑浊斑块, 1.8mm)</a:t>
            </a:r>
          </a:p>
        </p:txBody>
      </p:sp>
      <p:pic>
        <p:nvPicPr>
          <p:cNvPr id="8" name="Picture 7" descr="R3_展示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097280"/>
            <a:ext cx="192024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74152" y="3703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R3 (大斑块, 3.2mm)</a:t>
            </a:r>
          </a:p>
        </p:txBody>
      </p:sp>
      <p:pic>
        <p:nvPicPr>
          <p:cNvPr id="10" name="Picture 9" descr="W1_展示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9152" y="3840480"/>
            <a:ext cx="1920240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59152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W1 (小斑块, 0.5mm)</a:t>
            </a:r>
          </a:p>
        </p:txBody>
      </p:sp>
      <p:pic>
        <p:nvPicPr>
          <p:cNvPr id="12" name="Picture 11" descr="W2_展示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840480"/>
            <a:ext cx="1920240" cy="2560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6446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W2 (中等斑块, 2.2mm)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杀菌曲线：MOI优化实验</a:t>
            </a:r>
          </a:p>
        </p:txBody>
      </p:sp>
      <p:pic>
        <p:nvPicPr>
          <p:cNvPr id="4" name="Picture 3" descr="killing_curv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760720" cy="3456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5778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47A1"/>
                </a:solidFill>
              </a:defRPr>
            </a:pPr>
            <a:r>
              <a:t>W菌杀菌曲线 (W1, W2)</a:t>
            </a:r>
          </a:p>
        </p:txBody>
      </p:sp>
      <p:pic>
        <p:nvPicPr>
          <p:cNvPr id="6" name="Picture 5" descr="killing_curve_R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760720" cy="31422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55778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47A1"/>
                </a:solidFill>
              </a:defRPr>
            </a:pPr>
            <a:r>
              <a:t>R菌杀菌曲线 (R1, R2, R3)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杀菌曲线结果总结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噬菌体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宿主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最佳MOI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裂解启动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杀菌效率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W1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W菌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56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4CAF50"/>
                          </a:solidFill>
                        </a:defRPr>
                      </a:pPr>
                      <a:r>
                        <a:t>最快裂解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W2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W菌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2h 17min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高效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4CAF50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任意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4CAF50"/>
                          </a:solidFill>
                        </a:defRPr>
                      </a:pPr>
                      <a:r>
                        <a:t>30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4CAF50"/>
                          </a:solidFill>
                        </a:defRPr>
                      </a:pPr>
                      <a:r>
                        <a:t>最强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≥1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30-45 min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&gt;2h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弱（温和性）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R3杀菌效率最佳，所有MOI均可在30分钟内裂解 | R2裂解弱，确认为温和性噬菌体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结论与下一步计划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65C0"/>
                </a:solidFill>
              </a:defRPr>
            </a:pPr>
            <a:r>
              <a:t>Main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</a:rPr>
              <a:t>• 成功分离</a:t>
            </a:r>
            <a:r>
              <a:rPr b="1" sz="1600">
                <a:solidFill>
                  <a:srgbClr val="4CAF50"/>
                </a:solidFill>
              </a:rPr>
              <a:t>5株噬菌体</a:t>
            </a:r>
            <a:r>
              <a:rPr sz="1600">
                <a:solidFill>
                  <a:srgbClr val="333333"/>
                </a:solidFill>
              </a:rPr>
              <a:t>（R1-R3, W1-W2）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</a:rPr>
              <a:t>• </a:t>
            </a:r>
            <a:r>
              <a:rPr b="1" sz="1600">
                <a:solidFill>
                  <a:srgbClr val="4CAF50"/>
                </a:solidFill>
              </a:rPr>
              <a:t>R1</a:t>
            </a:r>
            <a:r>
              <a:rPr sz="1600">
                <a:solidFill>
                  <a:srgbClr val="333333"/>
                </a:solidFill>
              </a:rPr>
              <a:t>: 唯一窄宿主范围噬菌体（仅感染R菌）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</a:rPr>
              <a:t>• </a:t>
            </a:r>
            <a:r>
              <a:rPr b="1" sz="1600">
                <a:solidFill>
                  <a:srgbClr val="4CAF50"/>
                </a:solidFill>
              </a:rPr>
              <a:t>R2</a:t>
            </a:r>
            <a:r>
              <a:rPr sz="1600">
                <a:solidFill>
                  <a:srgbClr val="333333"/>
                </a:solidFill>
              </a:rPr>
              <a:t>: 浑浊斑块+弱裂解→确认为</a:t>
            </a:r>
            <a:r>
              <a:rPr b="1" sz="1600">
                <a:solidFill>
                  <a:srgbClr val="4CAF50"/>
                </a:solidFill>
              </a:rPr>
              <a:t>温和性噬菌体</a:t>
            </a:r>
            <a:r>
              <a:rPr sz="16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</a:rPr>
              <a:t>• </a:t>
            </a:r>
            <a:r>
              <a:rPr b="1" sz="1600">
                <a:solidFill>
                  <a:srgbClr val="4CAF50"/>
                </a:solidFill>
              </a:rPr>
              <a:t>R3</a:t>
            </a:r>
            <a:r>
              <a:rPr sz="1600">
                <a:solidFill>
                  <a:srgbClr val="333333"/>
                </a:solidFill>
              </a:rPr>
              <a:t>: 杀菌效率最佳（30min裂解，MOI不敏感）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</a:rPr>
              <a:t>• </a:t>
            </a:r>
            <a:r>
              <a:rPr b="1" sz="1600">
                <a:solidFill>
                  <a:srgbClr val="4CAF50"/>
                </a:solidFill>
              </a:rPr>
              <a:t>W1</a:t>
            </a:r>
            <a:r>
              <a:rPr sz="1600">
                <a:solidFill>
                  <a:srgbClr val="333333"/>
                </a:solidFill>
              </a:rPr>
              <a:t>: 裂解速度最快（56min @ MOI=10）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→ 一步生长曲线（确定潜伏期、burst size）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→ DNA提取与基因组测序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→ TEM电镜形态学观察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465C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57575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