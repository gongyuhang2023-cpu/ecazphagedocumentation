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各位老师、同学，大家好！</a:t>
            </a:r>
          </a:p>
          <a:p/>
          <a:p>
            <a:r>
              <a:t>今天我来汇报EcAZ噬菌体项目的最新进展。这个项目的目标是从污水中分离能够感染EcAZ大肠杆菌的噬菌体，为后续的噬菌体疗法研究奠定基础。</a:t>
            </a:r>
          </a:p>
          <a:p/>
          <a:p>
            <a:r>
              <a:t>接下来，我将从项目背景、分离结果、宿主范围、滴度测定、杀菌曲线等方面进行介绍。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首先介绍一下项目背景。</a:t>
            </a:r>
          </a:p>
          <a:p/>
          <a:p>
            <a:r>
              <a:t>我们的核心目标是从污水中分离能够感染EcAZ大肠杆菌的噬菌体。污水是噬菌体的天然富集库，含有丰富的噬菌体多样性。</a:t>
            </a:r>
          </a:p>
          <a:p/>
          <a:p>
            <a:r>
              <a:t>我们使用两种宿主菌进行筛选：EcAZ-1是野生型，简称W菌；EcAZ-2-OVA是表达OVA抗原的工程菌株，简称R菌。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经过多轮富集和纯化，我们成功分离了5株噬菌体。</a:t>
            </a:r>
          </a:p>
          <a:p/>
          <a:p>
            <a:r>
              <a:t>R1、R2、R3是用R菌富集得到的，W1、W2是用W菌富集得到的。</a:t>
            </a:r>
          </a:p>
          <a:p/>
          <a:p>
            <a:r>
              <a:t>这5株噬菌体的斑块形态各不相同：R1产生极小的斑块，R2产生浑浊斑块，R3产生大而清晰的斑块。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我们从三个维度表征斑块形态：直径、清晰度、晕环。</a:t>
            </a:r>
          </a:p>
          <a:p/>
          <a:p>
            <a:r>
              <a:t>R1最小只有0.1到0.2毫米，R3最大达到3.2毫米，相差超过15倍。</a:t>
            </a:r>
          </a:p>
          <a:p/>
          <a:p>
            <a:r>
              <a:t>清晰度方面，唯独R2是浑浊斑块，提示它可能是温和性噬菌体。</a:t>
            </a:r>
          </a:p>
          <a:p/>
          <a:p>
            <a:r>
              <a:t>除R2外，其他4株都有晕环，表明可能携带多糖降解酶。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宿主范围测定有一个重要发现：R1只能感染R菌，完全不能感染W菌。</a:t>
            </a:r>
          </a:p>
          <a:p/>
          <a:p>
            <a:r>
              <a:t>这是5株噬菌体中唯一的**窄宿主范围**噬菌体！</a:t>
            </a:r>
          </a:p>
          <a:p/>
          <a:p>
            <a:r>
              <a:t>可能的解释是R菌表达的OVA蛋白改变了细胞表面结构，R1正好利用了这个独特的受体。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滴度测定结果显示，5株噬菌体滴度差异较大。</a:t>
            </a:r>
          </a:p>
          <a:p/>
          <a:p>
            <a:r>
              <a:t>R2和W2滴度最高，达到10的14次方量级。</a:t>
            </a:r>
          </a:p>
          <a:p/>
          <a:p>
            <a:r>
              <a:t>R1和R3滴度相对较低，约10的10次方量级。</a:t>
            </a:r>
          </a:p>
          <a:p/>
          <a:p>
            <a:r>
              <a:t>这些滴度数据为后续实验提供了重要参考。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我们用BioTek Epoch 2进行了12小时连续监测的杀菌曲线实验。</a:t>
            </a:r>
          </a:p>
          <a:p/>
          <a:p>
            <a:r>
              <a:t>W1噬菌体在MOI=10时裂解最快，仅56分钟就开始裂解，所有MOI都能有效杀菌。</a:t>
            </a:r>
          </a:p>
          <a:p/>
          <a:p>
            <a:r>
              <a:t>W2噬菌体在MOI=1时杀菌效率最高，整体裂解速度比W1稍慢。</a:t>
            </a:r>
          </a:p>
          <a:p/>
          <a:p>
            <a:r>
              <a:t>推荐使用MOI：W1用MOI≥1，W2用MOI=1。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总结主要发现：</a:t>
            </a:r>
          </a:p>
          <a:p/>
          <a:p>
            <a:r>
              <a:t>第一，成功分离5株噬菌体；第二，R1是唯一窄宿主范围噬菌体；第三，R2可能是温和性噬菌体；第四，W1和W2的最佳MOI已确定。</a:t>
            </a:r>
          </a:p>
          <a:p/>
          <a:p>
            <a:r>
              <a:t>下一步：完成R菌的杀菌曲线实验，然后进行一步生长曲线和基因组测序。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感谢各位老师和同学的聆听！</a:t>
            </a:r>
          </a:p>
          <a:p/>
          <a:p>
            <a:r>
              <a:t>欢迎提问和讨论。谢谢！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D47A1"/>
                </a:solidFill>
              </a:defRPr>
            </a:pPr>
            <a:r>
              <a:t>EcAZ噬菌体项目进展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7575"/>
                </a:solidFill>
              </a:defRPr>
            </a:pPr>
            <a:r>
              <a:t>Group Meeting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龚宇航  |  2026-01-26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项目背景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2865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• 目标：从污水中分离感染EcAZ大肠杆菌的噬菌体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• 宿主菌：EcAZ-1 (W菌, 野生型)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• 宿主菌：EcAZ-2-OVA (R菌, 表达OVA)</a:t>
            </a:r>
          </a:p>
          <a:p>
            <a:pPr>
              <a:spcBef>
                <a:spcPts val="1200"/>
              </a:spcBef>
              <a:spcAft>
                <a:spcPts val="800"/>
              </a:spcAft>
              <a:defRPr sz="2200">
                <a:solidFill>
                  <a:srgbClr val="333333"/>
                </a:solidFill>
              </a:defRPr>
            </a:pPr>
            <a:r>
              <a:t>• 应用方向：噬菌体疗法研究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噬菌体分离结果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噬菌体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富集宿主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斑块特征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提纯轮数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EcAZ-2-OVA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极小斑块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4-5轮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EcAZ-2-OVA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浑浊斑块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4-5轮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EcAZ-2-OVA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大斑块，高滴度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4-5轮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EcAZ-1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小斑块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5-6轮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EcAZ-1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中等斑块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5-6轮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斑块形态特征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731"/>
                <a:gridCol w="2145731"/>
                <a:gridCol w="2145731"/>
                <a:gridCol w="2145731"/>
                <a:gridCol w="2145731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噬菌体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直径 (mm)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清晰度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晕环 (Halo)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大小分类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0.1–0.2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b="1">
                          <a:solidFill>
                            <a:srgbClr val="4CAF50"/>
                          </a:solidFill>
                        </a:rPr>
                        <a:t>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b="1">
                          <a:solidFill>
                            <a:srgbClr val="4CAF50"/>
                          </a:solidFill>
                        </a:rPr>
                        <a:t>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极小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1.8±0.3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b="1">
                          <a:solidFill>
                            <a:srgbClr val="4CAF50"/>
                          </a:solidFill>
                        </a:rPr>
                        <a:t>Turbid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无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中等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3.2±0.8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b="1">
                          <a:solidFill>
                            <a:srgbClr val="4CAF50"/>
                          </a:solidFill>
                        </a:rPr>
                        <a:t>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b="1">
                          <a:solidFill>
                            <a:srgbClr val="4CAF50"/>
                          </a:solidFill>
                        </a:rPr>
                        <a:t>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大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~0.5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b="1">
                          <a:solidFill>
                            <a:srgbClr val="4CAF50"/>
                          </a:solidFill>
                        </a:rPr>
                        <a:t>Clear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b="1">
                          <a:solidFill>
                            <a:srgbClr val="4CAF50"/>
                          </a:solidFill>
                        </a:rPr>
                        <a:t>有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小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2.2±0.4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b="1">
                          <a:solidFill>
                            <a:srgbClr val="4CAF50"/>
                          </a:solidFill>
                        </a:rPr>
                        <a:t>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b="1">
                          <a:solidFill>
                            <a:srgbClr val="4CAF50"/>
                          </a:solidFill>
                        </a:rPr>
                        <a:t>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中等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R2为唯一浑浊斑块（可能为温和性噬菌体）；R3斑块最大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宿主范围测定结果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噬菌体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EcAZ-2-OVA (R)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EcAZ-1 (W)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宿主范围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b="1">
                          <a:solidFill>
                            <a:srgbClr val="4CAF50"/>
                          </a:solidFill>
                        </a:rPr>
                        <a:t>窄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+++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+++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广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+++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+++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广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+++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广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滴度测定结果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4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8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噬菌体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滴度 (PFU/mL)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备注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~2.5×10¹⁰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窄宿主范围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~3.7×10¹⁴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浑浊斑块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R3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~8.7×10¹⁰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大斑块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~6×10¹²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~3.5×10¹⁴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滴度最高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R2和W2滴度最高，达10¹⁴ PFU/mL量级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杀菌曲线：W菌MOI优化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噬菌体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MOI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裂解启动时间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杀菌效率</a:t>
                      </a:r>
                    </a:p>
                  </a:txBody>
                  <a:tcPr anchor="ctr">
                    <a:solidFill>
                      <a:srgbClr val="1465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b="1">
                          <a:solidFill>
                            <a:srgbClr val="4CAF50"/>
                          </a:solidFill>
                        </a:rPr>
                        <a:t>56 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最快裂解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1h 22min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高效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1h 46min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高效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2h 17min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b="1">
                          <a:solidFill>
                            <a:srgbClr val="4CAF50"/>
                          </a:solidFill>
                        </a:rPr>
                        <a:t>效率最高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1h 57min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高效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757575"/>
                </a:solidFill>
              </a:defRPr>
            </a:pPr>
            <a:r>
              <a:t>W1: MOI=10最快; W2: MOI=1效率最高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结论与下一步计划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465C0"/>
                </a:solidFill>
              </a:defRPr>
            </a:pPr>
            <a:r>
              <a:t>Main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成功分离</a:t>
            </a:r>
            <a:r>
              <a:rPr b="1">
                <a:solidFill>
                  <a:srgbClr val="4CAF50"/>
                </a:solidFill>
              </a:rPr>
              <a:t>5株噬菌体</a:t>
            </a:r>
            <a:r>
              <a:t>（R1-R3, W1-W2）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R1是唯一的</a:t>
            </a:r>
            <a:r>
              <a:rPr b="1">
                <a:solidFill>
                  <a:srgbClr val="4CAF50"/>
                </a:solidFill>
              </a:rPr>
              <a:t>窄宿主范围</a:t>
            </a:r>
            <a:r>
              <a:t>噬菌体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R2产生</a:t>
            </a:r>
            <a:r>
              <a:rPr b="1">
                <a:solidFill>
                  <a:srgbClr val="4CAF50"/>
                </a:solidFill>
              </a:rPr>
              <a:t>浑浊斑块</a:t>
            </a:r>
            <a:r>
              <a:t>，可能为温和性噬菌体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W1/W2杀菌曲线：</a:t>
            </a:r>
            <a:r>
              <a:rPr b="1">
                <a:solidFill>
                  <a:srgbClr val="4CAF50"/>
                </a:solidFill>
              </a:rPr>
              <a:t>W1 MOI=10最快，W2 MOI=1最强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CAF50"/>
                </a:solidFill>
              </a:defRPr>
            </a:pPr>
            <a: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→ R菌杀菌曲线实验（R1, R2, R3）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→ 一步生长曲线实验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→ DNA提取与基因组测序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465C0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57575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