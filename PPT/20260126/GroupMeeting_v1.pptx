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a:t>
            </a:r>
          </a:p>
          <a:p/>
          <a:p>
            <a:r>
              <a:t>Today I'll be presenting the latest progress on our EcAZ phage project. The goal of this project is to isolate bacteriophages that can infect EcAZ E. coli strains from sewage samples.</a:t>
            </a:r>
          </a:p>
          <a:p/>
          <a:p>
            <a:r>
              <a:t>I'll cover the project background, isolation results, host range determination, titer determination, and killing curve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project background.</a:t>
            </a:r>
          </a:p>
          <a:p/>
          <a:p>
            <a:r>
              <a:t>Our core objective is to isolate bacteriophages capable of infecting EcAZ E. coli from sewage samples. Sewage is a natural reservoir of phage diversity.</a:t>
            </a:r>
          </a:p>
          <a:p/>
          <a:p>
            <a:r>
              <a:t>We used two host strains: EcAZ-1, a wild-type strain we call W, and EcAZ-2-OVA, an engineered strain expressing OVA antigen, which we call 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 multiple rounds of enrichment and purification, we successfully isolated five bacteriophages.</a:t>
            </a:r>
          </a:p>
          <a:p/>
          <a:p>
            <a:r>
              <a:t>R1, R2, and R3 were enriched using the R strain, while W1 and W2 were enriched using the W strain.</a:t>
            </a:r>
          </a:p>
          <a:p/>
          <a:p>
            <a:r>
              <a:t>These five phages exhibit distinct plaque morphologies: R1 produces tiny plaques, R2 produces turbid plaques, and R3 produces large, clear plaques.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characterized three parameters: diameter, clarity, and halo presence.</a:t>
            </a:r>
          </a:p>
          <a:p/>
          <a:p>
            <a:r>
              <a:t>R1 is the smallest at 0.1-0.2mm, while R3 is the largest at 3.2mm—a 15-fold difference.</a:t>
            </a:r>
          </a:p>
          <a:p/>
          <a:p>
            <a:r>
              <a:t>R2 is uniquely turbid, suggesting it might be a temperate phage.</a:t>
            </a:r>
          </a:p>
          <a:p/>
          <a:p>
            <a:r>
              <a:t>All except R2 show halos, suggesting these phages may carry polysaccharide-degrading enzymes.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range determination revealed an important finding: R1 can only infect the R strain and completely fails to infect the W strain.</a:t>
            </a:r>
          </a:p>
          <a:p/>
          <a:p>
            <a:r>
              <a:t>This is the only **narrow-host-range** phage among all five isolates!</a:t>
            </a:r>
          </a:p>
          <a:p/>
          <a:p>
            <a:r>
              <a:t>One possible explanation is that the OVA protein expressed on the R strain's surface creates a unique receptor that R1 specifically recognizes.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Titer determination shows significant variation among the five phages.</a:t>
            </a:r>
          </a:p>
          <a:p/>
          <a:p>
            <a:r>
              <a:t>R2 and W2 have the highest titers, reaching 10^14 PFU/mL.</a:t>
            </a:r>
          </a:p>
          <a:p/>
          <a:p>
            <a:r>
              <a:t>R1 and R3 have relatively lower titers, around 10^10 PFU/mL.</a:t>
            </a:r>
          </a:p>
          <a:p/>
          <a:p>
            <a:r>
              <a:t>These data provide important references for subsequent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performed 12-hour continuous monitoring killing curve experiments using BioTek Epoch 2.</a:t>
            </a:r>
          </a:p>
          <a:p/>
          <a:p>
            <a:r>
              <a:t>W1 phage at MOI=10 showed the fastest lysis, starting at just 56 minutes. All MOIs achieved effective killing.</a:t>
            </a:r>
          </a:p>
          <a:p/>
          <a:p>
            <a:r>
              <a:t>W2 phage at MOI=1 showed the highest killing efficiency, though overall lysis was slightly slower than W1.</a:t>
            </a:r>
          </a:p>
          <a:p/>
          <a:p>
            <a:r>
              <a:t>Recommended MOI: W1 use MOI≥1, W2 use MOI=1.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strain killing curves revealed significant differences among the three phages.</a:t>
            </a:r>
          </a:p>
          <a:p/>
          <a:p>
            <a:r>
              <a:t>R3 performed best: all MOIs achieved lysis within 30-45 minutes with the highest killing efficiency.</a:t>
            </a:r>
          </a:p>
          <a:p/>
          <a:p>
            <a:r>
              <a:t>R1 showed moderate performance: effective at high MOI, requires MOI≥1 for good lysis.</a:t>
            </a:r>
          </a:p>
          <a:p/>
          <a:p>
            <a:r>
              <a:t>R2 showed weak lysis: bacteria continued growing even at MOI=10. This is consistent with its turbid plaque morphology and further supports R2 being a temperate phage.</a:t>
            </a:r>
          </a:p>
          <a:p/>
          <a:p>
            <a:r>
              <a:t>Recommended MOI: R3 works at any MOI, R1 use MOI≥1.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findings summary:</a:t>
            </a:r>
          </a:p>
          <a:p/>
          <a:p>
            <a:r>
              <a:t>First, we successfully isolated five bacteriophages. Second, R1 is the only narrow-host-range phage. Third, killing curves confirmed R2 as a temperate phage. Fourth, R3 showed the best killing efficiency with lysis starting at 30 minutes across all MOIs.</a:t>
            </a:r>
          </a:p>
          <a:p/>
          <a:p>
            <a:r>
              <a:t>Next steps: One-step growth curves to determine latent period and burst size, DNA extraction and genome sequencing, and TEM for morphological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attention!</a:t>
            </a:r>
          </a:p>
          <a:p/>
          <a:p>
            <a:r>
              <a:t>Questions and discussions are welcome.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1097280"/>
          </a:xfrm>
          <a:prstGeom prst="rect">
            <a:avLst/>
          </a:prstGeom>
          <a:noFill/>
        </p:spPr>
        <p:txBody>
          <a:bodyPr wrap="none">
            <a:spAutoFit/>
          </a:bodyPr>
          <a:lstStyle/>
          <a:p>
            <a:pPr algn="ctr">
              <a:defRPr sz="4400" b="1">
                <a:solidFill>
                  <a:srgbClr val="0D47A1"/>
                </a:solidFill>
              </a:defRPr>
            </a:pPr>
            <a:r>
              <a:t>EcAZ Phage Project Progress</a:t>
            </a:r>
          </a:p>
        </p:txBody>
      </p:sp>
      <p:sp>
        <p:nvSpPr>
          <p:cNvPr id="3" name="TextBox 2"/>
          <p:cNvSpPr txBox="1"/>
          <p:nvPr/>
        </p:nvSpPr>
        <p:spPr>
          <a:xfrm>
            <a:off x="457200" y="3474720"/>
            <a:ext cx="11277295" cy="548640"/>
          </a:xfrm>
          <a:prstGeom prst="rect">
            <a:avLst/>
          </a:prstGeom>
          <a:noFill/>
        </p:spPr>
        <p:txBody>
          <a:bodyPr wrap="none">
            <a:spAutoFit/>
          </a:bodyPr>
          <a:lstStyle/>
          <a:p>
            <a:pPr algn="ctr">
              <a:defRPr sz="2400">
                <a:solidFill>
                  <a:srgbClr val="757575"/>
                </a:solidFill>
              </a:defRPr>
            </a:pPr>
            <a:r>
              <a:t>Group Meeting Report</a:t>
            </a:r>
          </a:p>
        </p:txBody>
      </p:sp>
      <p:sp>
        <p:nvSpPr>
          <p:cNvPr id="4" name="TextBox 3"/>
          <p:cNvSpPr txBox="1"/>
          <p:nvPr/>
        </p:nvSpPr>
        <p:spPr>
          <a:xfrm>
            <a:off x="457200" y="5029200"/>
            <a:ext cx="11277295" cy="914400"/>
          </a:xfrm>
          <a:prstGeom prst="rect">
            <a:avLst/>
          </a:prstGeom>
          <a:noFill/>
        </p:spPr>
        <p:txBody>
          <a:bodyPr wrap="none">
            <a:spAutoFit/>
          </a:bodyPr>
          <a:lstStyle/>
          <a:p>
            <a:pPr algn="ctr">
              <a:defRPr sz="1800">
                <a:solidFill>
                  <a:srgbClr val="333333"/>
                </a:solidFill>
              </a:defRPr>
            </a:pPr>
            <a:r>
              <a:t>Yuhang Gong  |  2026-01-26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Project Background</a:t>
            </a:r>
          </a:p>
        </p:txBody>
      </p:sp>
      <p:sp>
        <p:nvSpPr>
          <p:cNvPr id="4" name="TextBox 3"/>
          <p:cNvSpPr txBox="1"/>
          <p:nvPr/>
        </p:nvSpPr>
        <p:spPr>
          <a:xfrm>
            <a:off x="731520" y="1188720"/>
            <a:ext cx="10728655" cy="4937760"/>
          </a:xfrm>
          <a:prstGeom prst="rect">
            <a:avLst/>
          </a:prstGeom>
          <a:noFill/>
        </p:spPr>
        <p:txBody>
          <a:bodyPr wrap="square">
            <a:spAutoFit/>
          </a:bodyPr>
          <a:lstStyle/>
          <a:p>
            <a:pPr>
              <a:spcBef>
                <a:spcPts val="1200"/>
              </a:spcBef>
              <a:spcAft>
                <a:spcPts val="800"/>
              </a:spcAft>
              <a:defRPr sz="2200">
                <a:solidFill>
                  <a:srgbClr val="333333"/>
                </a:solidFill>
              </a:defRPr>
            </a:pPr>
            <a:r>
              <a:t>• Objective: Isolate phages infecting EcAZ E. coli from sewage</a:t>
            </a:r>
          </a:p>
          <a:p>
            <a:pPr>
              <a:spcBef>
                <a:spcPts val="1200"/>
              </a:spcBef>
              <a:spcAft>
                <a:spcPts val="800"/>
              </a:spcAft>
              <a:defRPr sz="2200">
                <a:solidFill>
                  <a:srgbClr val="333333"/>
                </a:solidFill>
              </a:defRPr>
            </a:pPr>
            <a:r>
              <a:t>• Host strain: EcAZ-1 (W strain, wild-type)</a:t>
            </a:r>
          </a:p>
          <a:p>
            <a:pPr>
              <a:spcBef>
                <a:spcPts val="1200"/>
              </a:spcBef>
              <a:spcAft>
                <a:spcPts val="800"/>
              </a:spcAft>
              <a:defRPr sz="2200">
                <a:solidFill>
                  <a:srgbClr val="333333"/>
                </a:solidFill>
              </a:defRPr>
            </a:pPr>
            <a:r>
              <a:t>• Host strain: EcAZ-2-OVA (R strain, OVA-expressing)</a:t>
            </a:r>
          </a:p>
          <a:p>
            <a:pPr>
              <a:spcBef>
                <a:spcPts val="1200"/>
              </a:spcBef>
              <a:spcAft>
                <a:spcPts val="800"/>
              </a:spcAft>
              <a:defRPr sz="2200">
                <a:solidFill>
                  <a:srgbClr val="333333"/>
                </a:solidFill>
              </a:defRPr>
            </a:pPr>
            <a:r>
              <a:t>• Application: Phage therapy research</a:t>
            </a:r>
          </a:p>
        </p:txBody>
      </p:sp>
      <p:sp>
        <p:nvSpPr>
          <p:cNvPr id="5" name="TextBox 4"/>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Phage Isolation Results</a:t>
            </a:r>
          </a:p>
        </p:txBody>
      </p:sp>
      <p:graphicFrame>
        <p:nvGraphicFramePr>
          <p:cNvPr id="4" name="Table 3"/>
          <p:cNvGraphicFramePr>
            <a:graphicFrameLocks noGrp="1"/>
          </p:cNvGraphicFramePr>
          <p:nvPr/>
        </p:nvGraphicFramePr>
        <p:xfrm>
          <a:off x="731520" y="1188720"/>
          <a:ext cx="10728652" cy="2743200"/>
        </p:xfrm>
        <a:graphic>
          <a:graphicData uri="http://schemas.openxmlformats.org/drawingml/2006/table">
            <a:tbl>
              <a:tblPr firstRow="1" bandRow="1">
                <a:tableStyleId>{5C22544A-7EE6-4342-B048-85BDC9FD1C3A}</a:tableStyleId>
              </a:tblPr>
              <a:tblGrid>
                <a:gridCol w="2682163"/>
                <a:gridCol w="2682163"/>
                <a:gridCol w="2682163"/>
                <a:gridCol w="2682163"/>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Enrichment Host</a:t>
                      </a:r>
                    </a:p>
                  </a:txBody>
                  <a:tcPr anchor="ctr">
                    <a:solidFill>
                      <a:srgbClr val="1465C0"/>
                    </a:solidFill>
                  </a:tcPr>
                </a:tc>
                <a:tc>
                  <a:txBody>
                    <a:bodyPr/>
                    <a:lstStyle/>
                    <a:p>
                      <a:pPr algn="ctr">
                        <a:defRPr sz="1400" b="1">
                          <a:solidFill>
                            <a:srgbClr val="FFFFFF"/>
                          </a:solidFill>
                        </a:defRPr>
                      </a:pPr>
                      <a:r>
                        <a:t>Plaque Morphology</a:t>
                      </a:r>
                    </a:p>
                  </a:txBody>
                  <a:tcPr anchor="ctr">
                    <a:solidFill>
                      <a:srgbClr val="1465C0"/>
                    </a:solidFill>
                  </a:tcPr>
                </a:tc>
                <a:tc>
                  <a:txBody>
                    <a:bodyPr/>
                    <a:lstStyle/>
                    <a:p>
                      <a:pPr algn="ctr">
                        <a:defRPr sz="1400" b="1">
                          <a:solidFill>
                            <a:srgbClr val="FFFFFF"/>
                          </a:solidFill>
                        </a:defRPr>
                      </a:pPr>
                      <a:r>
                        <a:t>Purification Rounds</a:t>
                      </a:r>
                    </a:p>
                  </a:txBody>
                  <a:tcPr anchor="ctr">
                    <a:solidFill>
                      <a:srgbClr val="1465C0"/>
                    </a:solidFill>
                  </a:tcPr>
                </a:tc>
              </a:tr>
              <a:tr h="457200">
                <a:tc>
                  <a:txBody>
                    <a:bodyPr/>
                    <a:lstStyle/>
                    <a:p>
                      <a:pPr algn="ctr">
                        <a:defRPr sz="1300"/>
                      </a:pPr>
                      <a:r>
                        <a:t>R1</a:t>
                      </a:r>
                    </a:p>
                  </a:txBody>
                  <a:tcPr anchor="ctr"/>
                </a:tc>
                <a:tc>
                  <a:txBody>
                    <a:bodyPr/>
                    <a:lstStyle/>
                    <a:p>
                      <a:pPr algn="ctr">
                        <a:defRPr sz="1300"/>
                      </a:pPr>
                      <a:r>
                        <a:t>EcAZ-2-OVA</a:t>
                      </a:r>
                    </a:p>
                  </a:txBody>
                  <a:tcPr anchor="ctr"/>
                </a:tc>
                <a:tc>
                  <a:txBody>
                    <a:bodyPr/>
                    <a:lstStyle/>
                    <a:p>
                      <a:pPr algn="ctr">
                        <a:defRPr sz="1300"/>
                      </a:pPr>
                      <a:r>
                        <a:t>Tiny plaques</a:t>
                      </a:r>
                    </a:p>
                  </a:txBody>
                  <a:tcPr anchor="ctr"/>
                </a:tc>
                <a:tc>
                  <a:txBody>
                    <a:bodyPr/>
                    <a:lstStyle/>
                    <a:p>
                      <a:pPr algn="ctr">
                        <a:defRPr sz="1300"/>
                      </a:pPr>
                      <a:r>
                        <a:t>4-5 rounds</a:t>
                      </a:r>
                    </a:p>
                  </a:txBody>
                  <a:tcPr anchor="ctr"/>
                </a:tc>
              </a:tr>
              <a:tr h="457200">
                <a:tc>
                  <a:txBody>
                    <a:bodyPr/>
                    <a:lstStyle/>
                    <a:p>
                      <a:pPr algn="ctr">
                        <a:defRPr sz="1300"/>
                      </a:pPr>
                      <a:r>
                        <a:t>R2</a:t>
                      </a:r>
                    </a:p>
                  </a:txBody>
                  <a:tcPr anchor="ctr">
                    <a:solidFill>
                      <a:srgbClr val="F5F5F5"/>
                    </a:solidFill>
                  </a:tcPr>
                </a:tc>
                <a:tc>
                  <a:txBody>
                    <a:bodyPr/>
                    <a:lstStyle/>
                    <a:p>
                      <a:pPr algn="ctr">
                        <a:defRPr sz="1300"/>
                      </a:pPr>
                      <a:r>
                        <a:t>EcAZ-2-OVA</a:t>
                      </a:r>
                    </a:p>
                  </a:txBody>
                  <a:tcPr anchor="ctr">
                    <a:solidFill>
                      <a:srgbClr val="F5F5F5"/>
                    </a:solidFill>
                  </a:tcPr>
                </a:tc>
                <a:tc>
                  <a:txBody>
                    <a:bodyPr/>
                    <a:lstStyle/>
                    <a:p>
                      <a:pPr algn="ctr">
                        <a:defRPr sz="1300"/>
                      </a:pPr>
                      <a:r>
                        <a:t>Turbid plaques</a:t>
                      </a:r>
                    </a:p>
                  </a:txBody>
                  <a:tcPr anchor="ctr">
                    <a:solidFill>
                      <a:srgbClr val="F5F5F5"/>
                    </a:solidFill>
                  </a:tcPr>
                </a:tc>
                <a:tc>
                  <a:txBody>
                    <a:bodyPr/>
                    <a:lstStyle/>
                    <a:p>
                      <a:pPr algn="ctr">
                        <a:defRPr sz="1300"/>
                      </a:pPr>
                      <a:r>
                        <a:t>4-5 rounds</a:t>
                      </a:r>
                    </a:p>
                  </a:txBody>
                  <a:tcPr anchor="ctr">
                    <a:solidFill>
                      <a:srgbClr val="F5F5F5"/>
                    </a:solidFill>
                  </a:tcPr>
                </a:tc>
              </a:tr>
              <a:tr h="457200">
                <a:tc>
                  <a:txBody>
                    <a:bodyPr/>
                    <a:lstStyle/>
                    <a:p>
                      <a:pPr algn="ctr">
                        <a:defRPr sz="1300"/>
                      </a:pPr>
                      <a:r>
                        <a:t>R3</a:t>
                      </a:r>
                    </a:p>
                  </a:txBody>
                  <a:tcPr anchor="ctr"/>
                </a:tc>
                <a:tc>
                  <a:txBody>
                    <a:bodyPr/>
                    <a:lstStyle/>
                    <a:p>
                      <a:pPr algn="ctr">
                        <a:defRPr sz="1300"/>
                      </a:pPr>
                      <a:r>
                        <a:t>EcAZ-2-OVA</a:t>
                      </a:r>
                    </a:p>
                  </a:txBody>
                  <a:tcPr anchor="ctr"/>
                </a:tc>
                <a:tc>
                  <a:txBody>
                    <a:bodyPr/>
                    <a:lstStyle/>
                    <a:p>
                      <a:pPr algn="ctr">
                        <a:defRPr sz="1300"/>
                      </a:pPr>
                      <a:r>
                        <a:t>Large plaques, high titer</a:t>
                      </a:r>
                    </a:p>
                  </a:txBody>
                  <a:tcPr anchor="ctr"/>
                </a:tc>
                <a:tc>
                  <a:txBody>
                    <a:bodyPr/>
                    <a:lstStyle/>
                    <a:p>
                      <a:pPr algn="ctr">
                        <a:defRPr sz="1300"/>
                      </a:pPr>
                      <a:r>
                        <a:t>4-5 rounds</a:t>
                      </a:r>
                    </a:p>
                  </a:txBody>
                  <a:tcPr anchor="ctr"/>
                </a:tc>
              </a:tr>
              <a:tr h="457200">
                <a:tc>
                  <a:txBody>
                    <a:bodyPr/>
                    <a:lstStyle/>
                    <a:p>
                      <a:pPr algn="ctr">
                        <a:defRPr sz="1300"/>
                      </a:pPr>
                      <a:r>
                        <a:t>W1</a:t>
                      </a:r>
                    </a:p>
                  </a:txBody>
                  <a:tcPr anchor="ctr">
                    <a:solidFill>
                      <a:srgbClr val="F5F5F5"/>
                    </a:solidFill>
                  </a:tcPr>
                </a:tc>
                <a:tc>
                  <a:txBody>
                    <a:bodyPr/>
                    <a:lstStyle/>
                    <a:p>
                      <a:pPr algn="ctr">
                        <a:defRPr sz="1300"/>
                      </a:pPr>
                      <a:r>
                        <a:t>EcAZ-1</a:t>
                      </a:r>
                    </a:p>
                  </a:txBody>
                  <a:tcPr anchor="ctr">
                    <a:solidFill>
                      <a:srgbClr val="F5F5F5"/>
                    </a:solidFill>
                  </a:tcPr>
                </a:tc>
                <a:tc>
                  <a:txBody>
                    <a:bodyPr/>
                    <a:lstStyle/>
                    <a:p>
                      <a:pPr algn="ctr">
                        <a:defRPr sz="1300"/>
                      </a:pPr>
                      <a:r>
                        <a:t>Small plaques</a:t>
                      </a:r>
                    </a:p>
                  </a:txBody>
                  <a:tcPr anchor="ctr">
                    <a:solidFill>
                      <a:srgbClr val="F5F5F5"/>
                    </a:solidFill>
                  </a:tcPr>
                </a:tc>
                <a:tc>
                  <a:txBody>
                    <a:bodyPr/>
                    <a:lstStyle/>
                    <a:p>
                      <a:pPr algn="ctr">
                        <a:defRPr sz="1300"/>
                      </a:pPr>
                      <a:r>
                        <a:t>5-6 rounds</a:t>
                      </a:r>
                    </a:p>
                  </a:txBody>
                  <a:tcPr anchor="ctr">
                    <a:solidFill>
                      <a:srgbClr val="F5F5F5"/>
                    </a:solidFill>
                  </a:tcPr>
                </a:tc>
              </a:tr>
              <a:tr h="457200">
                <a:tc>
                  <a:txBody>
                    <a:bodyPr/>
                    <a:lstStyle/>
                    <a:p>
                      <a:pPr algn="ctr">
                        <a:defRPr sz="1300"/>
                      </a:pPr>
                      <a:r>
                        <a:t>W2</a:t>
                      </a:r>
                    </a:p>
                  </a:txBody>
                  <a:tcPr anchor="ctr"/>
                </a:tc>
                <a:tc>
                  <a:txBody>
                    <a:bodyPr/>
                    <a:lstStyle/>
                    <a:p>
                      <a:pPr algn="ctr">
                        <a:defRPr sz="1300"/>
                      </a:pPr>
                      <a:r>
                        <a:t>EcAZ-1</a:t>
                      </a:r>
                    </a:p>
                  </a:txBody>
                  <a:tcPr anchor="ctr"/>
                </a:tc>
                <a:tc>
                  <a:txBody>
                    <a:bodyPr/>
                    <a:lstStyle/>
                    <a:p>
                      <a:pPr algn="ctr">
                        <a:defRPr sz="1300"/>
                      </a:pPr>
                      <a:r>
                        <a:t>Medium plaques</a:t>
                      </a:r>
                    </a:p>
                  </a:txBody>
                  <a:tcPr anchor="ctr"/>
                </a:tc>
                <a:tc>
                  <a:txBody>
                    <a:bodyPr/>
                    <a:lstStyle/>
                    <a:p>
                      <a:pPr algn="ctr">
                        <a:defRPr sz="1300"/>
                      </a:pPr>
                      <a:r>
                        <a:t>5-6 rounds</a:t>
                      </a:r>
                    </a:p>
                  </a:txBody>
                  <a:tcPr anchor="ctr"/>
                </a:tc>
              </a:tr>
            </a:tbl>
          </a:graphicData>
        </a:graphic>
      </p:graphicFrame>
      <p:sp>
        <p:nvSpPr>
          <p:cNvPr id="5" name="TextBox 4"/>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Plaque Morphology Characteristics</a:t>
            </a:r>
          </a:p>
        </p:txBody>
      </p:sp>
      <p:graphicFrame>
        <p:nvGraphicFramePr>
          <p:cNvPr id="4" name="Table 3"/>
          <p:cNvGraphicFramePr>
            <a:graphicFrameLocks noGrp="1"/>
          </p:cNvGraphicFramePr>
          <p:nvPr/>
        </p:nvGraphicFramePr>
        <p:xfrm>
          <a:off x="731520" y="1188720"/>
          <a:ext cx="10728655" cy="27432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Diameter (mm)</a:t>
                      </a:r>
                    </a:p>
                  </a:txBody>
                  <a:tcPr anchor="ctr">
                    <a:solidFill>
                      <a:srgbClr val="1465C0"/>
                    </a:solidFill>
                  </a:tcPr>
                </a:tc>
                <a:tc>
                  <a:txBody>
                    <a:bodyPr/>
                    <a:lstStyle/>
                    <a:p>
                      <a:pPr algn="ctr">
                        <a:defRPr sz="1400" b="1">
                          <a:solidFill>
                            <a:srgbClr val="FFFFFF"/>
                          </a:solidFill>
                        </a:defRPr>
                      </a:pPr>
                      <a:r>
                        <a:t>Clarity</a:t>
                      </a:r>
                    </a:p>
                  </a:txBody>
                  <a:tcPr anchor="ctr">
                    <a:solidFill>
                      <a:srgbClr val="1465C0"/>
                    </a:solidFill>
                  </a:tcPr>
                </a:tc>
                <a:tc>
                  <a:txBody>
                    <a:bodyPr/>
                    <a:lstStyle/>
                    <a:p>
                      <a:pPr algn="ctr">
                        <a:defRPr sz="1400" b="1">
                          <a:solidFill>
                            <a:srgbClr val="FFFFFF"/>
                          </a:solidFill>
                        </a:defRPr>
                      </a:pPr>
                      <a:r>
                        <a:t>Halo</a:t>
                      </a:r>
                    </a:p>
                  </a:txBody>
                  <a:tcPr anchor="ctr">
                    <a:solidFill>
                      <a:srgbClr val="1465C0"/>
                    </a:solidFill>
                  </a:tcPr>
                </a:tc>
                <a:tc>
                  <a:txBody>
                    <a:bodyPr/>
                    <a:lstStyle/>
                    <a:p>
                      <a:pPr algn="ctr">
                        <a:defRPr sz="1400" b="1">
                          <a:solidFill>
                            <a:srgbClr val="FFFFFF"/>
                          </a:solidFill>
                        </a:defRPr>
                      </a:pPr>
                      <a:r>
                        <a:t>Size Class</a:t>
                      </a:r>
                    </a:p>
                  </a:txBody>
                  <a:tcPr anchor="ctr">
                    <a:solidFill>
                      <a:srgbClr val="1465C0"/>
                    </a:solidFill>
                  </a:tcPr>
                </a:tc>
              </a:tr>
              <a:tr h="457200">
                <a:tc>
                  <a:txBody>
                    <a:bodyPr/>
                    <a:lstStyle/>
                    <a:p>
                      <a:pPr algn="ctr">
                        <a:defRPr sz="1300"/>
                      </a:pPr>
                      <a:r>
                        <a:t>R1</a:t>
                      </a:r>
                    </a:p>
                  </a:txBody>
                  <a:tcPr anchor="ctr"/>
                </a:tc>
                <a:tc>
                  <a:txBody>
                    <a:bodyPr/>
                    <a:lstStyle/>
                    <a:p>
                      <a:pPr algn="ctr">
                        <a:defRPr sz="1300"/>
                      </a:pPr>
                      <a:r>
                        <a:t>0.1–0.2</a:t>
                      </a:r>
                    </a:p>
                  </a:txBody>
                  <a:tcPr anchor="ctr"/>
                </a:tc>
                <a:tc>
                  <a:txBody>
                    <a:bodyPr/>
                    <a:lstStyle/>
                    <a:p>
                      <a:pPr algn="ctr">
                        <a:defRPr sz="1300"/>
                      </a:pPr>
                      <a:r>
                        <a:rPr b="1">
                          <a:solidFill>
                            <a:srgbClr val="4CAF50"/>
                          </a:solidFill>
                        </a:rPr>
                        <a:t>Clear</a:t>
                      </a:r>
                    </a:p>
                  </a:txBody>
                  <a:tcPr anchor="ctr"/>
                </a:tc>
                <a:tc>
                  <a:txBody>
                    <a:bodyPr/>
                    <a:lstStyle/>
                    <a:p>
                      <a:pPr algn="ctr">
                        <a:defRPr sz="1300"/>
                      </a:pPr>
                      <a:r>
                        <a:rPr b="1">
                          <a:solidFill>
                            <a:srgbClr val="4CAF50"/>
                          </a:solidFill>
                        </a:rPr>
                        <a:t>Yes</a:t>
                      </a:r>
                    </a:p>
                  </a:txBody>
                  <a:tcPr anchor="ctr"/>
                </a:tc>
                <a:tc>
                  <a:txBody>
                    <a:bodyPr/>
                    <a:lstStyle/>
                    <a:p>
                      <a:pPr algn="ctr">
                        <a:defRPr sz="1300"/>
                      </a:pPr>
                      <a:r>
                        <a:t>Tiny</a:t>
                      </a:r>
                    </a:p>
                  </a:txBody>
                  <a:tcPr anchor="ctr"/>
                </a:tc>
              </a:tr>
              <a:tr h="457200">
                <a:tc>
                  <a:txBody>
                    <a:bodyPr/>
                    <a:lstStyle/>
                    <a:p>
                      <a:pPr algn="ctr">
                        <a:defRPr sz="1300"/>
                      </a:pPr>
                      <a:r>
                        <a:t>R2</a:t>
                      </a:r>
                    </a:p>
                  </a:txBody>
                  <a:tcPr anchor="ctr">
                    <a:solidFill>
                      <a:srgbClr val="F5F5F5"/>
                    </a:solidFill>
                  </a:tcPr>
                </a:tc>
                <a:tc>
                  <a:txBody>
                    <a:bodyPr/>
                    <a:lstStyle/>
                    <a:p>
                      <a:pPr algn="ctr">
                        <a:defRPr sz="1300"/>
                      </a:pPr>
                      <a:r>
                        <a:t>1.8±0.3</a:t>
                      </a:r>
                    </a:p>
                  </a:txBody>
                  <a:tcPr anchor="ctr">
                    <a:solidFill>
                      <a:srgbClr val="F5F5F5"/>
                    </a:solidFill>
                  </a:tcPr>
                </a:tc>
                <a:tc>
                  <a:txBody>
                    <a:bodyPr/>
                    <a:lstStyle/>
                    <a:p>
                      <a:pPr algn="ctr">
                        <a:defRPr sz="1300"/>
                      </a:pPr>
                      <a:r>
                        <a:rPr b="1">
                          <a:solidFill>
                            <a:srgbClr val="4CAF50"/>
                          </a:solidFill>
                        </a:rPr>
                        <a:t>Turbid</a:t>
                      </a:r>
                    </a:p>
                  </a:txBody>
                  <a:tcPr anchor="ctr">
                    <a:solidFill>
                      <a:srgbClr val="F5F5F5"/>
                    </a:solidFill>
                  </a:tcPr>
                </a:tc>
                <a:tc>
                  <a:txBody>
                    <a:bodyPr/>
                    <a:lstStyle/>
                    <a:p>
                      <a:pPr algn="ctr">
                        <a:defRPr sz="1300"/>
                      </a:pPr>
                      <a:r>
                        <a:t>No</a:t>
                      </a:r>
                    </a:p>
                  </a:txBody>
                  <a:tcPr anchor="ctr">
                    <a:solidFill>
                      <a:srgbClr val="F5F5F5"/>
                    </a:solidFill>
                  </a:tcPr>
                </a:tc>
                <a:tc>
                  <a:txBody>
                    <a:bodyPr/>
                    <a:lstStyle/>
                    <a:p>
                      <a:pPr algn="ctr">
                        <a:defRPr sz="1300"/>
                      </a:pPr>
                      <a:r>
                        <a:t>Medium</a:t>
                      </a:r>
                    </a:p>
                  </a:txBody>
                  <a:tcPr anchor="ctr">
                    <a:solidFill>
                      <a:srgbClr val="F5F5F5"/>
                    </a:solidFill>
                  </a:tcPr>
                </a:tc>
              </a:tr>
              <a:tr h="457200">
                <a:tc>
                  <a:txBody>
                    <a:bodyPr/>
                    <a:lstStyle/>
                    <a:p>
                      <a:pPr algn="ctr">
                        <a:defRPr sz="1300"/>
                      </a:pPr>
                      <a:r>
                        <a:t>R3</a:t>
                      </a:r>
                    </a:p>
                  </a:txBody>
                  <a:tcPr anchor="ctr"/>
                </a:tc>
                <a:tc>
                  <a:txBody>
                    <a:bodyPr/>
                    <a:lstStyle/>
                    <a:p>
                      <a:pPr algn="ctr">
                        <a:defRPr sz="1300"/>
                      </a:pPr>
                      <a:r>
                        <a:t>3.2±0.8</a:t>
                      </a:r>
                    </a:p>
                  </a:txBody>
                  <a:tcPr anchor="ctr"/>
                </a:tc>
                <a:tc>
                  <a:txBody>
                    <a:bodyPr/>
                    <a:lstStyle/>
                    <a:p>
                      <a:pPr algn="ctr">
                        <a:defRPr sz="1300"/>
                      </a:pPr>
                      <a:r>
                        <a:rPr b="1">
                          <a:solidFill>
                            <a:srgbClr val="4CAF50"/>
                          </a:solidFill>
                        </a:rPr>
                        <a:t>Clear</a:t>
                      </a:r>
                    </a:p>
                  </a:txBody>
                  <a:tcPr anchor="ctr"/>
                </a:tc>
                <a:tc>
                  <a:txBody>
                    <a:bodyPr/>
                    <a:lstStyle/>
                    <a:p>
                      <a:pPr algn="ctr">
                        <a:defRPr sz="1300"/>
                      </a:pPr>
                      <a:r>
                        <a:rPr b="1">
                          <a:solidFill>
                            <a:srgbClr val="4CAF50"/>
                          </a:solidFill>
                        </a:rPr>
                        <a:t>Yes</a:t>
                      </a:r>
                    </a:p>
                  </a:txBody>
                  <a:tcPr anchor="ctr"/>
                </a:tc>
                <a:tc>
                  <a:txBody>
                    <a:bodyPr/>
                    <a:lstStyle/>
                    <a:p>
                      <a:pPr algn="ctr">
                        <a:defRPr sz="1300"/>
                      </a:pPr>
                      <a:r>
                        <a:t>Large</a:t>
                      </a:r>
                    </a:p>
                  </a:txBody>
                  <a:tcPr anchor="ctr"/>
                </a:tc>
              </a:tr>
              <a:tr h="457200">
                <a:tc>
                  <a:txBody>
                    <a:bodyPr/>
                    <a:lstStyle/>
                    <a:p>
                      <a:pPr algn="ctr">
                        <a:defRPr sz="1300"/>
                      </a:pPr>
                      <a:r>
                        <a:t>W1</a:t>
                      </a:r>
                    </a:p>
                  </a:txBody>
                  <a:tcPr anchor="ctr">
                    <a:solidFill>
                      <a:srgbClr val="F5F5F5"/>
                    </a:solidFill>
                  </a:tcPr>
                </a:tc>
                <a:tc>
                  <a:txBody>
                    <a:bodyPr/>
                    <a:lstStyle/>
                    <a:p>
                      <a:pPr algn="ctr">
                        <a:defRPr sz="1300"/>
                      </a:pPr>
                      <a:r>
                        <a:t>~0.5</a:t>
                      </a:r>
                    </a:p>
                  </a:txBody>
                  <a:tcPr anchor="ctr">
                    <a:solidFill>
                      <a:srgbClr val="F5F5F5"/>
                    </a:solidFill>
                  </a:tcPr>
                </a:tc>
                <a:tc>
                  <a:txBody>
                    <a:bodyPr/>
                    <a:lstStyle/>
                    <a:p>
                      <a:pPr algn="ctr">
                        <a:defRPr sz="1300"/>
                      </a:pPr>
                      <a:r>
                        <a:rPr b="1">
                          <a:solidFill>
                            <a:srgbClr val="4CAF50"/>
                          </a:solidFill>
                        </a:rPr>
                        <a:t>Clear</a:t>
                      </a:r>
                    </a:p>
                  </a:txBody>
                  <a:tcPr anchor="ctr">
                    <a:solidFill>
                      <a:srgbClr val="F5F5F5"/>
                    </a:solidFill>
                  </a:tcPr>
                </a:tc>
                <a:tc>
                  <a:txBody>
                    <a:bodyPr/>
                    <a:lstStyle/>
                    <a:p>
                      <a:pPr algn="ctr">
                        <a:defRPr sz="1300"/>
                      </a:pPr>
                      <a:r>
                        <a:rPr b="1">
                          <a:solidFill>
                            <a:srgbClr val="4CAF50"/>
                          </a:solidFill>
                        </a:rPr>
                        <a:t>Yes</a:t>
                      </a:r>
                    </a:p>
                  </a:txBody>
                  <a:tcPr anchor="ctr">
                    <a:solidFill>
                      <a:srgbClr val="F5F5F5"/>
                    </a:solidFill>
                  </a:tcPr>
                </a:tc>
                <a:tc>
                  <a:txBody>
                    <a:bodyPr/>
                    <a:lstStyle/>
                    <a:p>
                      <a:pPr algn="ctr">
                        <a:defRPr sz="1300"/>
                      </a:pPr>
                      <a:r>
                        <a:t>Small</a:t>
                      </a:r>
                    </a:p>
                  </a:txBody>
                  <a:tcPr anchor="ctr">
                    <a:solidFill>
                      <a:srgbClr val="F5F5F5"/>
                    </a:solidFill>
                  </a:tcPr>
                </a:tc>
              </a:tr>
              <a:tr h="457200">
                <a:tc>
                  <a:txBody>
                    <a:bodyPr/>
                    <a:lstStyle/>
                    <a:p>
                      <a:pPr algn="ctr">
                        <a:defRPr sz="1300"/>
                      </a:pPr>
                      <a:r>
                        <a:t>W2</a:t>
                      </a:r>
                    </a:p>
                  </a:txBody>
                  <a:tcPr anchor="ctr"/>
                </a:tc>
                <a:tc>
                  <a:txBody>
                    <a:bodyPr/>
                    <a:lstStyle/>
                    <a:p>
                      <a:pPr algn="ctr">
                        <a:defRPr sz="1300"/>
                      </a:pPr>
                      <a:r>
                        <a:t>2.2±0.4</a:t>
                      </a:r>
                    </a:p>
                  </a:txBody>
                  <a:tcPr anchor="ctr"/>
                </a:tc>
                <a:tc>
                  <a:txBody>
                    <a:bodyPr/>
                    <a:lstStyle/>
                    <a:p>
                      <a:pPr algn="ctr">
                        <a:defRPr sz="1300"/>
                      </a:pPr>
                      <a:r>
                        <a:rPr b="1">
                          <a:solidFill>
                            <a:srgbClr val="4CAF50"/>
                          </a:solidFill>
                        </a:rPr>
                        <a:t>Clear</a:t>
                      </a:r>
                    </a:p>
                  </a:txBody>
                  <a:tcPr anchor="ctr"/>
                </a:tc>
                <a:tc>
                  <a:txBody>
                    <a:bodyPr/>
                    <a:lstStyle/>
                    <a:p>
                      <a:pPr algn="ctr">
                        <a:defRPr sz="1300"/>
                      </a:pPr>
                      <a:r>
                        <a:rPr b="1">
                          <a:solidFill>
                            <a:srgbClr val="4CAF50"/>
                          </a:solidFill>
                        </a:rPr>
                        <a:t>Yes</a:t>
                      </a:r>
                    </a:p>
                  </a:txBody>
                  <a:tcPr anchor="ctr"/>
                </a:tc>
                <a:tc>
                  <a:txBody>
                    <a:bodyPr/>
                    <a:lstStyle/>
                    <a:p>
                      <a:pPr algn="ctr">
                        <a:defRPr sz="1300"/>
                      </a:pPr>
                      <a:r>
                        <a:t>Medium</a:t>
                      </a:r>
                    </a:p>
                  </a:txBody>
                  <a:tcPr anchor="ctr"/>
                </a:tc>
              </a:tr>
            </a:tbl>
          </a:graphicData>
        </a:graphic>
      </p:graphicFrame>
      <p:sp>
        <p:nvSpPr>
          <p:cNvPr id="5" name="TextBox 4"/>
          <p:cNvSpPr txBox="1"/>
          <p:nvPr/>
        </p:nvSpPr>
        <p:spPr>
          <a:xfrm>
            <a:off x="731520" y="5943600"/>
            <a:ext cx="10728655" cy="365760"/>
          </a:xfrm>
          <a:prstGeom prst="rect">
            <a:avLst/>
          </a:prstGeom>
          <a:noFill/>
        </p:spPr>
        <p:txBody>
          <a:bodyPr wrap="none">
            <a:spAutoFit/>
          </a:bodyPr>
          <a:lstStyle/>
          <a:p>
            <a:pPr>
              <a:defRPr sz="1200" i="1">
                <a:solidFill>
                  <a:srgbClr val="757575"/>
                </a:solidFill>
              </a:defRPr>
            </a:pPr>
            <a:r>
              <a:t>R2 is the only turbid plaque (possibly temperate); R3 has the largest plaques</a:t>
            </a:r>
          </a:p>
        </p:txBody>
      </p:sp>
      <p:sp>
        <p:nvSpPr>
          <p:cNvPr id="6" name="TextBox 5"/>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Host Range Determination Results</a:t>
            </a:r>
          </a:p>
        </p:txBody>
      </p:sp>
      <p:graphicFrame>
        <p:nvGraphicFramePr>
          <p:cNvPr id="4" name="Table 3"/>
          <p:cNvGraphicFramePr>
            <a:graphicFrameLocks noGrp="1"/>
          </p:cNvGraphicFramePr>
          <p:nvPr/>
        </p:nvGraphicFramePr>
        <p:xfrm>
          <a:off x="731520" y="1188720"/>
          <a:ext cx="10728652" cy="2743200"/>
        </p:xfrm>
        <a:graphic>
          <a:graphicData uri="http://schemas.openxmlformats.org/drawingml/2006/table">
            <a:tbl>
              <a:tblPr firstRow="1" bandRow="1">
                <a:tableStyleId>{5C22544A-7EE6-4342-B048-85BDC9FD1C3A}</a:tableStyleId>
              </a:tblPr>
              <a:tblGrid>
                <a:gridCol w="2682163"/>
                <a:gridCol w="2682163"/>
                <a:gridCol w="2682163"/>
                <a:gridCol w="2682163"/>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EcAZ-2-OVA (R)</a:t>
                      </a:r>
                    </a:p>
                  </a:txBody>
                  <a:tcPr anchor="ctr">
                    <a:solidFill>
                      <a:srgbClr val="1465C0"/>
                    </a:solidFill>
                  </a:tcPr>
                </a:tc>
                <a:tc>
                  <a:txBody>
                    <a:bodyPr/>
                    <a:lstStyle/>
                    <a:p>
                      <a:pPr algn="ctr">
                        <a:defRPr sz="1400" b="1">
                          <a:solidFill>
                            <a:srgbClr val="FFFFFF"/>
                          </a:solidFill>
                        </a:defRPr>
                      </a:pPr>
                      <a:r>
                        <a:t>EcAZ-1 (W)</a:t>
                      </a:r>
                    </a:p>
                  </a:txBody>
                  <a:tcPr anchor="ctr">
                    <a:solidFill>
                      <a:srgbClr val="1465C0"/>
                    </a:solidFill>
                  </a:tcPr>
                </a:tc>
                <a:tc>
                  <a:txBody>
                    <a:bodyPr/>
                    <a:lstStyle/>
                    <a:p>
                      <a:pPr algn="ctr">
                        <a:defRPr sz="1400" b="1">
                          <a:solidFill>
                            <a:srgbClr val="FFFFFF"/>
                          </a:solidFill>
                        </a:defRPr>
                      </a:pPr>
                      <a:r>
                        <a:t>Host Range</a:t>
                      </a:r>
                    </a:p>
                  </a:txBody>
                  <a:tcPr anchor="ctr">
                    <a:solidFill>
                      <a:srgbClr val="1465C0"/>
                    </a:solidFill>
                  </a:tcPr>
                </a:tc>
              </a:tr>
              <a:tr h="457200">
                <a:tc>
                  <a:txBody>
                    <a:bodyPr/>
                    <a:lstStyle/>
                    <a:p>
                      <a:pPr algn="ctr">
                        <a:defRPr sz="1300"/>
                      </a:pPr>
                      <a:r>
                        <a:t>R1</a:t>
                      </a:r>
                    </a:p>
                  </a:txBody>
                  <a:tcPr anchor="ctr"/>
                </a:tc>
                <a:tc>
                  <a:txBody>
                    <a:bodyPr/>
                    <a:lstStyle/>
                    <a:p>
                      <a:pPr algn="ctr">
                        <a:defRPr sz="1300"/>
                      </a:pPr>
                      <a:r>
                        <a:t>+++</a:t>
                      </a:r>
                    </a:p>
                  </a:txBody>
                  <a:tcPr anchor="ctr"/>
                </a:tc>
                <a:tc>
                  <a:txBody>
                    <a:bodyPr/>
                    <a:lstStyle/>
                    <a:p>
                      <a:pPr algn="ctr">
                        <a:defRPr sz="1300"/>
                      </a:pPr>
                      <a:r>
                        <a:t>−</a:t>
                      </a:r>
                    </a:p>
                  </a:txBody>
                  <a:tcPr anchor="ctr"/>
                </a:tc>
                <a:tc>
                  <a:txBody>
                    <a:bodyPr/>
                    <a:lstStyle/>
                    <a:p>
                      <a:pPr algn="ctr">
                        <a:defRPr sz="1300"/>
                      </a:pPr>
                      <a:r>
                        <a:rPr b="1">
                          <a:solidFill>
                            <a:srgbClr val="4CAF50"/>
                          </a:solidFill>
                        </a:rPr>
                        <a:t>Narrow</a:t>
                      </a:r>
                    </a:p>
                  </a:txBody>
                  <a:tcPr anchor="ctr"/>
                </a:tc>
              </a:tr>
              <a:tr h="457200">
                <a:tc>
                  <a:txBody>
                    <a:bodyPr/>
                    <a:lstStyle/>
                    <a:p>
                      <a:pPr algn="ctr">
                        <a:defRPr sz="1300"/>
                      </a:pPr>
                      <a:r>
                        <a:t>R2</a:t>
                      </a:r>
                    </a:p>
                  </a:txBody>
                  <a:tcPr anchor="ctr">
                    <a:solidFill>
                      <a:srgbClr val="F5F5F5"/>
                    </a:solidFill>
                  </a:tcPr>
                </a:tc>
                <a:tc>
                  <a:txBody>
                    <a:bodyPr/>
                    <a:lstStyle/>
                    <a:p>
                      <a:pPr algn="ctr">
                        <a:defRPr sz="1300"/>
                      </a:pPr>
                      <a:r>
                        <a:t>+++</a:t>
                      </a:r>
                    </a:p>
                  </a:txBody>
                  <a:tcPr anchor="ctr">
                    <a:solidFill>
                      <a:srgbClr val="F5F5F5"/>
                    </a:solidFill>
                  </a:tcPr>
                </a:tc>
                <a:tc>
                  <a:txBody>
                    <a:bodyPr/>
                    <a:lstStyle/>
                    <a:p>
                      <a:pPr algn="ctr">
                        <a:defRPr sz="1300"/>
                      </a:pPr>
                      <a:r>
                        <a:t>+++</a:t>
                      </a:r>
                    </a:p>
                  </a:txBody>
                  <a:tcPr anchor="ctr">
                    <a:solidFill>
                      <a:srgbClr val="F5F5F5"/>
                    </a:solidFill>
                  </a:tcPr>
                </a:tc>
                <a:tc>
                  <a:txBody>
                    <a:bodyPr/>
                    <a:lstStyle/>
                    <a:p>
                      <a:pPr algn="ctr">
                        <a:defRPr sz="1300"/>
                      </a:pPr>
                      <a:r>
                        <a:t>Broad</a:t>
                      </a:r>
                    </a:p>
                  </a:txBody>
                  <a:tcPr anchor="ctr">
                    <a:solidFill>
                      <a:srgbClr val="F5F5F5"/>
                    </a:solidFill>
                  </a:tcPr>
                </a:tc>
              </a:tr>
              <a:tr h="457200">
                <a:tc>
                  <a:txBody>
                    <a:bodyPr/>
                    <a:lstStyle/>
                    <a:p>
                      <a:pPr algn="ctr">
                        <a:defRPr sz="1300"/>
                      </a:pPr>
                      <a:r>
                        <a:t>R3</a:t>
                      </a:r>
                    </a:p>
                  </a:txBody>
                  <a:tcPr anchor="ctr"/>
                </a:tc>
                <a:tc>
                  <a:txBody>
                    <a:bodyPr/>
                    <a:lstStyle/>
                    <a:p>
                      <a:pPr algn="ctr">
                        <a:defRPr sz="1300"/>
                      </a:pPr>
                      <a:r>
                        <a:t>+++</a:t>
                      </a:r>
                    </a:p>
                  </a:txBody>
                  <a:tcPr anchor="ctr"/>
                </a:tc>
                <a:tc>
                  <a:txBody>
                    <a:bodyPr/>
                    <a:lstStyle/>
                    <a:p>
                      <a:pPr algn="ctr">
                        <a:defRPr sz="1300"/>
                      </a:pPr>
                      <a:r>
                        <a:t>+++</a:t>
                      </a:r>
                    </a:p>
                  </a:txBody>
                  <a:tcPr anchor="ctr"/>
                </a:tc>
                <a:tc>
                  <a:txBody>
                    <a:bodyPr/>
                    <a:lstStyle/>
                    <a:p>
                      <a:pPr algn="ctr">
                        <a:defRPr sz="1300"/>
                      </a:pPr>
                      <a:r>
                        <a:t>Broad</a:t>
                      </a:r>
                    </a:p>
                  </a:txBody>
                  <a:tcPr anchor="ctr"/>
                </a:tc>
              </a:tr>
              <a:tr h="457200">
                <a:tc>
                  <a:txBody>
                    <a:bodyPr/>
                    <a:lstStyle/>
                    <a:p>
                      <a:pPr algn="ctr">
                        <a:defRPr sz="1300"/>
                      </a:pPr>
                      <a:r>
                        <a:t>W1</a:t>
                      </a:r>
                    </a:p>
                  </a:txBody>
                  <a:tcPr anchor="ctr">
                    <a:solidFill>
                      <a:srgbClr val="F5F5F5"/>
                    </a:solidFill>
                  </a:tcPr>
                </a:tc>
                <a:tc>
                  <a:txBody>
                    <a:bodyPr/>
                    <a:lstStyle/>
                    <a:p>
                      <a:pPr algn="ctr">
                        <a:defRPr sz="1300"/>
                      </a:pPr>
                      <a:r>
                        <a:t>+++</a:t>
                      </a:r>
                    </a:p>
                  </a:txBody>
                  <a:tcPr anchor="ctr">
                    <a:solidFill>
                      <a:srgbClr val="F5F5F5"/>
                    </a:solidFill>
                  </a:tcPr>
                </a:tc>
                <a:tc>
                  <a:txBody>
                    <a:bodyPr/>
                    <a:lstStyle/>
                    <a:p>
                      <a:pPr algn="ctr">
                        <a:defRPr sz="1300"/>
                      </a:pPr>
                      <a:r>
                        <a:t>+++</a:t>
                      </a:r>
                    </a:p>
                  </a:txBody>
                  <a:tcPr anchor="ctr">
                    <a:solidFill>
                      <a:srgbClr val="F5F5F5"/>
                    </a:solidFill>
                  </a:tcPr>
                </a:tc>
                <a:tc>
                  <a:txBody>
                    <a:bodyPr/>
                    <a:lstStyle/>
                    <a:p>
                      <a:pPr algn="ctr">
                        <a:defRPr sz="1300"/>
                      </a:pPr>
                      <a:r>
                        <a:t>Broad</a:t>
                      </a:r>
                    </a:p>
                  </a:txBody>
                  <a:tcPr anchor="ctr">
                    <a:solidFill>
                      <a:srgbClr val="F5F5F5"/>
                    </a:solidFill>
                  </a:tcPr>
                </a:tc>
              </a:tr>
              <a:tr h="457200">
                <a:tc>
                  <a:txBody>
                    <a:bodyPr/>
                    <a:lstStyle/>
                    <a:p>
                      <a:pPr algn="ctr">
                        <a:defRPr sz="1300"/>
                      </a:pPr>
                      <a:r>
                        <a:t>W2</a:t>
                      </a:r>
                    </a:p>
                  </a:txBody>
                  <a:tcPr anchor="ctr"/>
                </a:tc>
                <a:tc>
                  <a:txBody>
                    <a:bodyPr/>
                    <a:lstStyle/>
                    <a:p>
                      <a:pPr algn="ctr">
                        <a:defRPr sz="1300"/>
                      </a:pPr>
                      <a:r>
                        <a:t>+++</a:t>
                      </a:r>
                    </a:p>
                  </a:txBody>
                  <a:tcPr anchor="ctr"/>
                </a:tc>
                <a:tc>
                  <a:txBody>
                    <a:bodyPr/>
                    <a:lstStyle/>
                    <a:p>
                      <a:pPr algn="ctr">
                        <a:defRPr sz="1300"/>
                      </a:pPr>
                      <a:r>
                        <a:t>+++</a:t>
                      </a:r>
                    </a:p>
                  </a:txBody>
                  <a:tcPr anchor="ctr"/>
                </a:tc>
                <a:tc>
                  <a:txBody>
                    <a:bodyPr/>
                    <a:lstStyle/>
                    <a:p>
                      <a:pPr algn="ctr">
                        <a:defRPr sz="1300"/>
                      </a:pPr>
                      <a:r>
                        <a:t>Broad</a:t>
                      </a:r>
                    </a:p>
                  </a:txBody>
                  <a:tcPr anchor="ctr"/>
                </a:tc>
              </a:tr>
            </a:tbl>
          </a:graphicData>
        </a:graphic>
      </p:graphicFrame>
      <p:sp>
        <p:nvSpPr>
          <p:cNvPr id="5" name="TextBox 4"/>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Titer Determination Results</a:t>
            </a:r>
          </a:p>
        </p:txBody>
      </p:sp>
      <p:graphicFrame>
        <p:nvGraphicFramePr>
          <p:cNvPr id="4" name="Table 3"/>
          <p:cNvGraphicFramePr>
            <a:graphicFrameLocks noGrp="1"/>
          </p:cNvGraphicFramePr>
          <p:nvPr/>
        </p:nvGraphicFramePr>
        <p:xfrm>
          <a:off x="731520" y="1188720"/>
          <a:ext cx="10728654" cy="2743200"/>
        </p:xfrm>
        <a:graphic>
          <a:graphicData uri="http://schemas.openxmlformats.org/drawingml/2006/table">
            <a:tbl>
              <a:tblPr firstRow="1" bandRow="1">
                <a:tableStyleId>{5C22544A-7EE6-4342-B048-85BDC9FD1C3A}</a:tableStyleId>
              </a:tblPr>
              <a:tblGrid>
                <a:gridCol w="3576218"/>
                <a:gridCol w="3576218"/>
                <a:gridCol w="3576218"/>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Titer (PFU/mL)</a:t>
                      </a:r>
                    </a:p>
                  </a:txBody>
                  <a:tcPr anchor="ctr">
                    <a:solidFill>
                      <a:srgbClr val="1465C0"/>
                    </a:solidFill>
                  </a:tcPr>
                </a:tc>
                <a:tc>
                  <a:txBody>
                    <a:bodyPr/>
                    <a:lstStyle/>
                    <a:p>
                      <a:pPr algn="ctr">
                        <a:defRPr sz="1400" b="1">
                          <a:solidFill>
                            <a:srgbClr val="FFFFFF"/>
                          </a:solidFill>
                        </a:defRPr>
                      </a:pPr>
                      <a:r>
                        <a:t>Notes</a:t>
                      </a:r>
                    </a:p>
                  </a:txBody>
                  <a:tcPr anchor="ctr">
                    <a:solidFill>
                      <a:srgbClr val="1465C0"/>
                    </a:solidFill>
                  </a:tcPr>
                </a:tc>
              </a:tr>
              <a:tr h="457200">
                <a:tc>
                  <a:txBody>
                    <a:bodyPr/>
                    <a:lstStyle/>
                    <a:p>
                      <a:pPr algn="ctr">
                        <a:defRPr sz="1300"/>
                      </a:pPr>
                      <a:r>
                        <a:t>R1</a:t>
                      </a:r>
                    </a:p>
                  </a:txBody>
                  <a:tcPr anchor="ctr"/>
                </a:tc>
                <a:tc>
                  <a:txBody>
                    <a:bodyPr/>
                    <a:lstStyle/>
                    <a:p>
                      <a:pPr algn="ctr">
                        <a:defRPr sz="1300"/>
                      </a:pPr>
                      <a:r>
                        <a:t>~2.5×10¹⁰</a:t>
                      </a:r>
                    </a:p>
                  </a:txBody>
                  <a:tcPr anchor="ctr"/>
                </a:tc>
                <a:tc>
                  <a:txBody>
                    <a:bodyPr/>
                    <a:lstStyle/>
                    <a:p>
                      <a:pPr algn="ctr">
                        <a:defRPr sz="1300"/>
                      </a:pPr>
                      <a:r>
                        <a:t>Narrow host range</a:t>
                      </a:r>
                    </a:p>
                  </a:txBody>
                  <a:tcPr anchor="ctr"/>
                </a:tc>
              </a:tr>
              <a:tr h="457200">
                <a:tc>
                  <a:txBody>
                    <a:bodyPr/>
                    <a:lstStyle/>
                    <a:p>
                      <a:pPr algn="ctr">
                        <a:defRPr sz="1300"/>
                      </a:pPr>
                      <a:r>
                        <a:t>R2</a:t>
                      </a:r>
                    </a:p>
                  </a:txBody>
                  <a:tcPr anchor="ctr">
                    <a:solidFill>
                      <a:srgbClr val="F5F5F5"/>
                    </a:solidFill>
                  </a:tcPr>
                </a:tc>
                <a:tc>
                  <a:txBody>
                    <a:bodyPr/>
                    <a:lstStyle/>
                    <a:p>
                      <a:pPr algn="ctr">
                        <a:defRPr sz="1300"/>
                      </a:pPr>
                      <a:r>
                        <a:t>~3.7×10¹⁴</a:t>
                      </a:r>
                    </a:p>
                  </a:txBody>
                  <a:tcPr anchor="ctr">
                    <a:solidFill>
                      <a:srgbClr val="F5F5F5"/>
                    </a:solidFill>
                  </a:tcPr>
                </a:tc>
                <a:tc>
                  <a:txBody>
                    <a:bodyPr/>
                    <a:lstStyle/>
                    <a:p>
                      <a:pPr algn="ctr">
                        <a:defRPr sz="1300"/>
                      </a:pPr>
                      <a:r>
                        <a:t>Turbid plaques</a:t>
                      </a:r>
                    </a:p>
                  </a:txBody>
                  <a:tcPr anchor="ctr">
                    <a:solidFill>
                      <a:srgbClr val="F5F5F5"/>
                    </a:solidFill>
                  </a:tcPr>
                </a:tc>
              </a:tr>
              <a:tr h="457200">
                <a:tc>
                  <a:txBody>
                    <a:bodyPr/>
                    <a:lstStyle/>
                    <a:p>
                      <a:pPr algn="ctr">
                        <a:defRPr sz="1300"/>
                      </a:pPr>
                      <a:r>
                        <a:t>R3</a:t>
                      </a:r>
                    </a:p>
                  </a:txBody>
                  <a:tcPr anchor="ctr"/>
                </a:tc>
                <a:tc>
                  <a:txBody>
                    <a:bodyPr/>
                    <a:lstStyle/>
                    <a:p>
                      <a:pPr algn="ctr">
                        <a:defRPr sz="1300"/>
                      </a:pPr>
                      <a:r>
                        <a:t>~8.7×10¹⁰</a:t>
                      </a:r>
                    </a:p>
                  </a:txBody>
                  <a:tcPr anchor="ctr"/>
                </a:tc>
                <a:tc>
                  <a:txBody>
                    <a:bodyPr/>
                    <a:lstStyle/>
                    <a:p>
                      <a:pPr algn="ctr">
                        <a:defRPr sz="1300"/>
                      </a:pPr>
                      <a:r>
                        <a:t>Large plaques</a:t>
                      </a:r>
                    </a:p>
                  </a:txBody>
                  <a:tcPr anchor="ctr"/>
                </a:tc>
              </a:tr>
              <a:tr h="457200">
                <a:tc>
                  <a:txBody>
                    <a:bodyPr/>
                    <a:lstStyle/>
                    <a:p>
                      <a:pPr algn="ctr">
                        <a:defRPr sz="1300"/>
                      </a:pPr>
                      <a:r>
                        <a:t>W1</a:t>
                      </a:r>
                    </a:p>
                  </a:txBody>
                  <a:tcPr anchor="ctr">
                    <a:solidFill>
                      <a:srgbClr val="F5F5F5"/>
                    </a:solidFill>
                  </a:tcPr>
                </a:tc>
                <a:tc>
                  <a:txBody>
                    <a:bodyPr/>
                    <a:lstStyle/>
                    <a:p>
                      <a:pPr algn="ctr">
                        <a:defRPr sz="1300"/>
                      </a:pPr>
                      <a:r>
                        <a:t>~6×10¹²</a:t>
                      </a:r>
                    </a:p>
                  </a:txBody>
                  <a:tcPr anchor="ctr">
                    <a:solidFill>
                      <a:srgbClr val="F5F5F5"/>
                    </a:solidFill>
                  </a:tcPr>
                </a:tc>
                <a:tc>
                  <a:txBody>
                    <a:bodyPr/>
                    <a:lstStyle/>
                    <a:p>
                      <a:pPr algn="ctr">
                        <a:defRPr sz="1300"/>
                      </a:pPr>
                      <a:r>
                        <a:t>-</a:t>
                      </a:r>
                    </a:p>
                  </a:txBody>
                  <a:tcPr anchor="ctr">
                    <a:solidFill>
                      <a:srgbClr val="F5F5F5"/>
                    </a:solidFill>
                  </a:tcPr>
                </a:tc>
              </a:tr>
              <a:tr h="457200">
                <a:tc>
                  <a:txBody>
                    <a:bodyPr/>
                    <a:lstStyle/>
                    <a:p>
                      <a:pPr algn="ctr">
                        <a:defRPr sz="1300"/>
                      </a:pPr>
                      <a:r>
                        <a:t>W2</a:t>
                      </a:r>
                    </a:p>
                  </a:txBody>
                  <a:tcPr anchor="ctr"/>
                </a:tc>
                <a:tc>
                  <a:txBody>
                    <a:bodyPr/>
                    <a:lstStyle/>
                    <a:p>
                      <a:pPr algn="ctr">
                        <a:defRPr sz="1300"/>
                      </a:pPr>
                      <a:r>
                        <a:t>~3.5×10¹⁴</a:t>
                      </a:r>
                    </a:p>
                  </a:txBody>
                  <a:tcPr anchor="ctr"/>
                </a:tc>
                <a:tc>
                  <a:txBody>
                    <a:bodyPr/>
                    <a:lstStyle/>
                    <a:p>
                      <a:pPr algn="ctr">
                        <a:defRPr sz="1300"/>
                      </a:pPr>
                      <a:r>
                        <a:t>Highest titer</a:t>
                      </a:r>
                    </a:p>
                  </a:txBody>
                  <a:tcPr anchor="ctr"/>
                </a:tc>
              </a:tr>
            </a:tbl>
          </a:graphicData>
        </a:graphic>
      </p:graphicFrame>
      <p:sp>
        <p:nvSpPr>
          <p:cNvPr id="5" name="TextBox 4"/>
          <p:cNvSpPr txBox="1"/>
          <p:nvPr/>
        </p:nvSpPr>
        <p:spPr>
          <a:xfrm>
            <a:off x="731520" y="5943600"/>
            <a:ext cx="10728655" cy="365760"/>
          </a:xfrm>
          <a:prstGeom prst="rect">
            <a:avLst/>
          </a:prstGeom>
          <a:noFill/>
        </p:spPr>
        <p:txBody>
          <a:bodyPr wrap="none">
            <a:spAutoFit/>
          </a:bodyPr>
          <a:lstStyle/>
          <a:p>
            <a:pPr>
              <a:defRPr sz="1200" i="1">
                <a:solidFill>
                  <a:srgbClr val="757575"/>
                </a:solidFill>
              </a:defRPr>
            </a:pPr>
            <a:r>
              <a:t>R2 and W2 have the highest titers at 10¹⁴ PFU/mL</a:t>
            </a:r>
          </a:p>
        </p:txBody>
      </p:sp>
      <p:sp>
        <p:nvSpPr>
          <p:cNvPr id="6" name="TextBox 5"/>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Killing Curve: W Strain MOI Optimization</a:t>
            </a:r>
          </a:p>
        </p:txBody>
      </p:sp>
      <p:graphicFrame>
        <p:nvGraphicFramePr>
          <p:cNvPr id="4" name="Table 3"/>
          <p:cNvGraphicFramePr>
            <a:graphicFrameLocks noGrp="1"/>
          </p:cNvGraphicFramePr>
          <p:nvPr/>
        </p:nvGraphicFramePr>
        <p:xfrm>
          <a:off x="731520" y="1188720"/>
          <a:ext cx="10728652" cy="2743200"/>
        </p:xfrm>
        <a:graphic>
          <a:graphicData uri="http://schemas.openxmlformats.org/drawingml/2006/table">
            <a:tbl>
              <a:tblPr firstRow="1" bandRow="1">
                <a:tableStyleId>{5C22544A-7EE6-4342-B048-85BDC9FD1C3A}</a:tableStyleId>
              </a:tblPr>
              <a:tblGrid>
                <a:gridCol w="2682163"/>
                <a:gridCol w="2682163"/>
                <a:gridCol w="2682163"/>
                <a:gridCol w="2682163"/>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MOI</a:t>
                      </a:r>
                    </a:p>
                  </a:txBody>
                  <a:tcPr anchor="ctr">
                    <a:solidFill>
                      <a:srgbClr val="1465C0"/>
                    </a:solidFill>
                  </a:tcPr>
                </a:tc>
                <a:tc>
                  <a:txBody>
                    <a:bodyPr/>
                    <a:lstStyle/>
                    <a:p>
                      <a:pPr algn="ctr">
                        <a:defRPr sz="1400" b="1">
                          <a:solidFill>
                            <a:srgbClr val="FFFFFF"/>
                          </a:solidFill>
                        </a:defRPr>
                      </a:pPr>
                      <a:r>
                        <a:t>Lysis Onset</a:t>
                      </a:r>
                    </a:p>
                  </a:txBody>
                  <a:tcPr anchor="ctr">
                    <a:solidFill>
                      <a:srgbClr val="1465C0"/>
                    </a:solidFill>
                  </a:tcPr>
                </a:tc>
                <a:tc>
                  <a:txBody>
                    <a:bodyPr/>
                    <a:lstStyle/>
                    <a:p>
                      <a:pPr algn="ctr">
                        <a:defRPr sz="1400" b="1">
                          <a:solidFill>
                            <a:srgbClr val="FFFFFF"/>
                          </a:solidFill>
                        </a:defRPr>
                      </a:pPr>
                      <a:r>
                        <a:t>Killing Efficiency</a:t>
                      </a:r>
                    </a:p>
                  </a:txBody>
                  <a:tcPr anchor="ctr">
                    <a:solidFill>
                      <a:srgbClr val="1465C0"/>
                    </a:solidFill>
                  </a:tcPr>
                </a:tc>
              </a:tr>
              <a:tr h="457200">
                <a:tc>
                  <a:txBody>
                    <a:bodyPr/>
                    <a:lstStyle/>
                    <a:p>
                      <a:pPr algn="ctr">
                        <a:defRPr sz="1300"/>
                      </a:pPr>
                      <a:r>
                        <a:t>W1</a:t>
                      </a:r>
                    </a:p>
                  </a:txBody>
                  <a:tcPr anchor="ctr"/>
                </a:tc>
                <a:tc>
                  <a:txBody>
                    <a:bodyPr/>
                    <a:lstStyle/>
                    <a:p>
                      <a:pPr algn="ctr">
                        <a:defRPr sz="1300"/>
                      </a:pPr>
                      <a:r>
                        <a:t>10</a:t>
                      </a:r>
                    </a:p>
                  </a:txBody>
                  <a:tcPr anchor="ctr"/>
                </a:tc>
                <a:tc>
                  <a:txBody>
                    <a:bodyPr/>
                    <a:lstStyle/>
                    <a:p>
                      <a:pPr algn="ctr">
                        <a:defRPr sz="1300"/>
                      </a:pPr>
                      <a:r>
                        <a:rPr b="1">
                          <a:solidFill>
                            <a:srgbClr val="4CAF50"/>
                          </a:solidFill>
                        </a:rPr>
                        <a:t>56 min</a:t>
                      </a:r>
                    </a:p>
                  </a:txBody>
                  <a:tcPr anchor="ctr"/>
                </a:tc>
                <a:tc>
                  <a:txBody>
                    <a:bodyPr/>
                    <a:lstStyle/>
                    <a:p>
                      <a:pPr algn="ctr">
                        <a:defRPr sz="1300"/>
                      </a:pPr>
                      <a:r>
                        <a:t>Fastest lysis</a:t>
                      </a:r>
                    </a:p>
                  </a:txBody>
                  <a:tcPr anchor="ctr"/>
                </a:tc>
              </a:tr>
              <a:tr h="457200">
                <a:tc>
                  <a:txBody>
                    <a:bodyPr/>
                    <a:lstStyle/>
                    <a:p>
                      <a:pPr algn="ctr">
                        <a:defRPr sz="1300"/>
                      </a:pPr>
                      <a:r>
                        <a:t>W1</a:t>
                      </a:r>
                    </a:p>
                  </a:txBody>
                  <a:tcPr anchor="ctr">
                    <a:solidFill>
                      <a:srgbClr val="F5F5F5"/>
                    </a:solidFill>
                  </a:tcPr>
                </a:tc>
                <a:tc>
                  <a:txBody>
                    <a:bodyPr/>
                    <a:lstStyle/>
                    <a:p>
                      <a:pPr algn="ctr">
                        <a:defRPr sz="1300"/>
                      </a:pPr>
                      <a:r>
                        <a:t>1</a:t>
                      </a:r>
                    </a:p>
                  </a:txBody>
                  <a:tcPr anchor="ctr">
                    <a:solidFill>
                      <a:srgbClr val="F5F5F5"/>
                    </a:solidFill>
                  </a:tcPr>
                </a:tc>
                <a:tc>
                  <a:txBody>
                    <a:bodyPr/>
                    <a:lstStyle/>
                    <a:p>
                      <a:pPr algn="ctr">
                        <a:defRPr sz="1300"/>
                      </a:pPr>
                      <a:r>
                        <a:t>1h 22min</a:t>
                      </a:r>
                    </a:p>
                  </a:txBody>
                  <a:tcPr anchor="ctr">
                    <a:solidFill>
                      <a:srgbClr val="F5F5F5"/>
                    </a:solidFill>
                  </a:tcPr>
                </a:tc>
                <a:tc>
                  <a:txBody>
                    <a:bodyPr/>
                    <a:lstStyle/>
                    <a:p>
                      <a:pPr algn="ctr">
                        <a:defRPr sz="1300"/>
                      </a:pPr>
                      <a:r>
                        <a:t>Efficient</a:t>
                      </a:r>
                    </a:p>
                  </a:txBody>
                  <a:tcPr anchor="ctr">
                    <a:solidFill>
                      <a:srgbClr val="F5F5F5"/>
                    </a:solidFill>
                  </a:tcPr>
                </a:tc>
              </a:tr>
              <a:tr h="457200">
                <a:tc>
                  <a:txBody>
                    <a:bodyPr/>
                    <a:lstStyle/>
                    <a:p>
                      <a:pPr algn="ctr">
                        <a:defRPr sz="1300"/>
                      </a:pPr>
                      <a:r>
                        <a:t>W1</a:t>
                      </a:r>
                    </a:p>
                  </a:txBody>
                  <a:tcPr anchor="ctr"/>
                </a:tc>
                <a:tc>
                  <a:txBody>
                    <a:bodyPr/>
                    <a:lstStyle/>
                    <a:p>
                      <a:pPr algn="ctr">
                        <a:defRPr sz="1300"/>
                      </a:pPr>
                      <a:r>
                        <a:t>0.1</a:t>
                      </a:r>
                    </a:p>
                  </a:txBody>
                  <a:tcPr anchor="ctr"/>
                </a:tc>
                <a:tc>
                  <a:txBody>
                    <a:bodyPr/>
                    <a:lstStyle/>
                    <a:p>
                      <a:pPr algn="ctr">
                        <a:defRPr sz="1300"/>
                      </a:pPr>
                      <a:r>
                        <a:t>1h 46min</a:t>
                      </a:r>
                    </a:p>
                  </a:txBody>
                  <a:tcPr anchor="ctr"/>
                </a:tc>
                <a:tc>
                  <a:txBody>
                    <a:bodyPr/>
                    <a:lstStyle/>
                    <a:p>
                      <a:pPr algn="ctr">
                        <a:defRPr sz="1300"/>
                      </a:pPr>
                      <a:r>
                        <a:t>Efficient</a:t>
                      </a:r>
                    </a:p>
                  </a:txBody>
                  <a:tcPr anchor="ctr"/>
                </a:tc>
              </a:tr>
              <a:tr h="457200">
                <a:tc>
                  <a:txBody>
                    <a:bodyPr/>
                    <a:lstStyle/>
                    <a:p>
                      <a:pPr algn="ctr">
                        <a:defRPr sz="1300"/>
                      </a:pPr>
                      <a:r>
                        <a:t>W2</a:t>
                      </a:r>
                    </a:p>
                  </a:txBody>
                  <a:tcPr anchor="ctr">
                    <a:solidFill>
                      <a:srgbClr val="F5F5F5"/>
                    </a:solidFill>
                  </a:tcPr>
                </a:tc>
                <a:tc>
                  <a:txBody>
                    <a:bodyPr/>
                    <a:lstStyle/>
                    <a:p>
                      <a:pPr algn="ctr">
                        <a:defRPr sz="1300"/>
                      </a:pPr>
                      <a:r>
                        <a:t>1</a:t>
                      </a:r>
                    </a:p>
                  </a:txBody>
                  <a:tcPr anchor="ctr">
                    <a:solidFill>
                      <a:srgbClr val="F5F5F5"/>
                    </a:solidFill>
                  </a:tcPr>
                </a:tc>
                <a:tc>
                  <a:txBody>
                    <a:bodyPr/>
                    <a:lstStyle/>
                    <a:p>
                      <a:pPr algn="ctr">
                        <a:defRPr sz="1300"/>
                      </a:pPr>
                      <a:r>
                        <a:t>2h 17min</a:t>
                      </a:r>
                    </a:p>
                  </a:txBody>
                  <a:tcPr anchor="ctr">
                    <a:solidFill>
                      <a:srgbClr val="F5F5F5"/>
                    </a:solidFill>
                  </a:tcPr>
                </a:tc>
                <a:tc>
                  <a:txBody>
                    <a:bodyPr/>
                    <a:lstStyle/>
                    <a:p>
                      <a:pPr algn="ctr">
                        <a:defRPr sz="1300"/>
                      </a:pPr>
                      <a:r>
                        <a:rPr b="1">
                          <a:solidFill>
                            <a:srgbClr val="4CAF50"/>
                          </a:solidFill>
                        </a:rPr>
                        <a:t>Highest efficiency</a:t>
                      </a:r>
                    </a:p>
                  </a:txBody>
                  <a:tcPr anchor="ctr">
                    <a:solidFill>
                      <a:srgbClr val="F5F5F5"/>
                    </a:solidFill>
                  </a:tcPr>
                </a:tc>
              </a:tr>
              <a:tr h="457200">
                <a:tc>
                  <a:txBody>
                    <a:bodyPr/>
                    <a:lstStyle/>
                    <a:p>
                      <a:pPr algn="ctr">
                        <a:defRPr sz="1300"/>
                      </a:pPr>
                      <a:r>
                        <a:t>W2</a:t>
                      </a:r>
                    </a:p>
                  </a:txBody>
                  <a:tcPr anchor="ctr"/>
                </a:tc>
                <a:tc>
                  <a:txBody>
                    <a:bodyPr/>
                    <a:lstStyle/>
                    <a:p>
                      <a:pPr algn="ctr">
                        <a:defRPr sz="1300"/>
                      </a:pPr>
                      <a:r>
                        <a:t>10</a:t>
                      </a:r>
                    </a:p>
                  </a:txBody>
                  <a:tcPr anchor="ctr"/>
                </a:tc>
                <a:tc>
                  <a:txBody>
                    <a:bodyPr/>
                    <a:lstStyle/>
                    <a:p>
                      <a:pPr algn="ctr">
                        <a:defRPr sz="1300"/>
                      </a:pPr>
                      <a:r>
                        <a:t>1h 57min</a:t>
                      </a:r>
                    </a:p>
                  </a:txBody>
                  <a:tcPr anchor="ctr"/>
                </a:tc>
                <a:tc>
                  <a:txBody>
                    <a:bodyPr/>
                    <a:lstStyle/>
                    <a:p>
                      <a:pPr algn="ctr">
                        <a:defRPr sz="1300"/>
                      </a:pPr>
                      <a:r>
                        <a:t>Efficient</a:t>
                      </a:r>
                    </a:p>
                  </a:txBody>
                  <a:tcPr anchor="ctr"/>
                </a:tc>
              </a:tr>
            </a:tbl>
          </a:graphicData>
        </a:graphic>
      </p:graphicFrame>
      <p:sp>
        <p:nvSpPr>
          <p:cNvPr id="5" name="TextBox 4"/>
          <p:cNvSpPr txBox="1"/>
          <p:nvPr/>
        </p:nvSpPr>
        <p:spPr>
          <a:xfrm>
            <a:off x="731520" y="5943600"/>
            <a:ext cx="10728655" cy="365760"/>
          </a:xfrm>
          <a:prstGeom prst="rect">
            <a:avLst/>
          </a:prstGeom>
          <a:noFill/>
        </p:spPr>
        <p:txBody>
          <a:bodyPr wrap="none">
            <a:spAutoFit/>
          </a:bodyPr>
          <a:lstStyle/>
          <a:p>
            <a:pPr>
              <a:defRPr sz="1200" i="1">
                <a:solidFill>
                  <a:srgbClr val="757575"/>
                </a:solidFill>
              </a:defRPr>
            </a:pPr>
            <a:r>
              <a:t>W1: MOI=10 fastest; W2: MOI=1 most efficient</a:t>
            </a:r>
          </a:p>
        </p:txBody>
      </p:sp>
      <p:sp>
        <p:nvSpPr>
          <p:cNvPr id="6" name="TextBox 5"/>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Killing Curve: R Strain MOI Optimization</a:t>
            </a:r>
          </a:p>
        </p:txBody>
      </p:sp>
      <p:graphicFrame>
        <p:nvGraphicFramePr>
          <p:cNvPr id="4" name="Table 3"/>
          <p:cNvGraphicFramePr>
            <a:graphicFrameLocks noGrp="1"/>
          </p:cNvGraphicFramePr>
          <p:nvPr/>
        </p:nvGraphicFramePr>
        <p:xfrm>
          <a:off x="731520" y="1188720"/>
          <a:ext cx="10728652" cy="3657600"/>
        </p:xfrm>
        <a:graphic>
          <a:graphicData uri="http://schemas.openxmlformats.org/drawingml/2006/table">
            <a:tbl>
              <a:tblPr firstRow="1" bandRow="1">
                <a:tableStyleId>{5C22544A-7EE6-4342-B048-85BDC9FD1C3A}</a:tableStyleId>
              </a:tblPr>
              <a:tblGrid>
                <a:gridCol w="2682163"/>
                <a:gridCol w="2682163"/>
                <a:gridCol w="2682163"/>
                <a:gridCol w="2682163"/>
              </a:tblGrid>
              <a:tr h="457200">
                <a:tc>
                  <a:txBody>
                    <a:bodyPr/>
                    <a:lstStyle/>
                    <a:p>
                      <a:pPr algn="ctr">
                        <a:defRPr sz="1400" b="1">
                          <a:solidFill>
                            <a:srgbClr val="FFFFFF"/>
                          </a:solidFill>
                        </a:defRPr>
                      </a:pPr>
                      <a:r>
                        <a:t>Phage</a:t>
                      </a:r>
                    </a:p>
                  </a:txBody>
                  <a:tcPr anchor="ctr">
                    <a:solidFill>
                      <a:srgbClr val="1465C0"/>
                    </a:solidFill>
                  </a:tcPr>
                </a:tc>
                <a:tc>
                  <a:txBody>
                    <a:bodyPr/>
                    <a:lstStyle/>
                    <a:p>
                      <a:pPr algn="ctr">
                        <a:defRPr sz="1400" b="1">
                          <a:solidFill>
                            <a:srgbClr val="FFFFFF"/>
                          </a:solidFill>
                        </a:defRPr>
                      </a:pPr>
                      <a:r>
                        <a:t>MOI</a:t>
                      </a:r>
                    </a:p>
                  </a:txBody>
                  <a:tcPr anchor="ctr">
                    <a:solidFill>
                      <a:srgbClr val="1465C0"/>
                    </a:solidFill>
                  </a:tcPr>
                </a:tc>
                <a:tc>
                  <a:txBody>
                    <a:bodyPr/>
                    <a:lstStyle/>
                    <a:p>
                      <a:pPr algn="ctr">
                        <a:defRPr sz="1400" b="1">
                          <a:solidFill>
                            <a:srgbClr val="FFFFFF"/>
                          </a:solidFill>
                        </a:defRPr>
                      </a:pPr>
                      <a:r>
                        <a:t>Lysis Onset</a:t>
                      </a:r>
                    </a:p>
                  </a:txBody>
                  <a:tcPr anchor="ctr">
                    <a:solidFill>
                      <a:srgbClr val="1465C0"/>
                    </a:solidFill>
                  </a:tcPr>
                </a:tc>
                <a:tc>
                  <a:txBody>
                    <a:bodyPr/>
                    <a:lstStyle/>
                    <a:p>
                      <a:pPr algn="ctr">
                        <a:defRPr sz="1400" b="1">
                          <a:solidFill>
                            <a:srgbClr val="FFFFFF"/>
                          </a:solidFill>
                        </a:defRPr>
                      </a:pPr>
                      <a:r>
                        <a:t>Killing Efficiency</a:t>
                      </a:r>
                    </a:p>
                  </a:txBody>
                  <a:tcPr anchor="ctr">
                    <a:solidFill>
                      <a:srgbClr val="1465C0"/>
                    </a:solidFill>
                  </a:tcPr>
                </a:tc>
              </a:tr>
              <a:tr h="457200">
                <a:tc>
                  <a:txBody>
                    <a:bodyPr/>
                    <a:lstStyle/>
                    <a:p>
                      <a:pPr algn="ctr">
                        <a:defRPr sz="1300"/>
                      </a:pPr>
                      <a:r>
                        <a:t>R3</a:t>
                      </a:r>
                    </a:p>
                  </a:txBody>
                  <a:tcPr anchor="ctr"/>
                </a:tc>
                <a:tc>
                  <a:txBody>
                    <a:bodyPr/>
                    <a:lstStyle/>
                    <a:p>
                      <a:pPr algn="ctr">
                        <a:defRPr sz="1300"/>
                      </a:pPr>
                      <a:r>
                        <a:t>10</a:t>
                      </a:r>
                    </a:p>
                  </a:txBody>
                  <a:tcPr anchor="ctr"/>
                </a:tc>
                <a:tc>
                  <a:txBody>
                    <a:bodyPr/>
                    <a:lstStyle/>
                    <a:p>
                      <a:pPr algn="ctr">
                        <a:defRPr sz="1300"/>
                      </a:pPr>
                      <a:r>
                        <a:rPr b="1">
                          <a:solidFill>
                            <a:srgbClr val="4CAF50"/>
                          </a:solidFill>
                        </a:rPr>
                        <a:t>30 min</a:t>
                      </a:r>
                    </a:p>
                  </a:txBody>
                  <a:tcPr anchor="ctr"/>
                </a:tc>
                <a:tc>
                  <a:txBody>
                    <a:bodyPr/>
                    <a:lstStyle/>
                    <a:p>
                      <a:pPr algn="ctr">
                        <a:defRPr sz="1300"/>
                      </a:pPr>
                      <a:r>
                        <a:rPr b="1">
                          <a:solidFill>
                            <a:srgbClr val="4CAF50"/>
                          </a:solidFill>
                        </a:rPr>
                        <a:t>Fastest &amp; strongest</a:t>
                      </a:r>
                    </a:p>
                  </a:txBody>
                  <a:tcPr anchor="ctr"/>
                </a:tc>
              </a:tr>
              <a:tr h="457200">
                <a:tc>
                  <a:txBody>
                    <a:bodyPr/>
                    <a:lstStyle/>
                    <a:p>
                      <a:pPr algn="ctr">
                        <a:defRPr sz="1300"/>
                      </a:pPr>
                      <a:r>
                        <a:t>R3</a:t>
                      </a:r>
                    </a:p>
                  </a:txBody>
                  <a:tcPr anchor="ctr">
                    <a:solidFill>
                      <a:srgbClr val="F5F5F5"/>
                    </a:solidFill>
                  </a:tcPr>
                </a:tc>
                <a:tc>
                  <a:txBody>
                    <a:bodyPr/>
                    <a:lstStyle/>
                    <a:p>
                      <a:pPr algn="ctr">
                        <a:defRPr sz="1300"/>
                      </a:pPr>
                      <a:r>
                        <a:t>1</a:t>
                      </a:r>
                    </a:p>
                  </a:txBody>
                  <a:tcPr anchor="ctr">
                    <a:solidFill>
                      <a:srgbClr val="F5F5F5"/>
                    </a:solidFill>
                  </a:tcPr>
                </a:tc>
                <a:tc>
                  <a:txBody>
                    <a:bodyPr/>
                    <a:lstStyle/>
                    <a:p>
                      <a:pPr algn="ctr">
                        <a:defRPr sz="1300"/>
                      </a:pPr>
                      <a:r>
                        <a:t>30 min</a:t>
                      </a:r>
                    </a:p>
                  </a:txBody>
                  <a:tcPr anchor="ctr">
                    <a:solidFill>
                      <a:srgbClr val="F5F5F5"/>
                    </a:solidFill>
                  </a:tcPr>
                </a:tc>
                <a:tc>
                  <a:txBody>
                    <a:bodyPr/>
                    <a:lstStyle/>
                    <a:p>
                      <a:pPr algn="ctr">
                        <a:defRPr sz="1300"/>
                      </a:pPr>
                      <a:r>
                        <a:t>Efficient</a:t>
                      </a:r>
                    </a:p>
                  </a:txBody>
                  <a:tcPr anchor="ctr">
                    <a:solidFill>
                      <a:srgbClr val="F5F5F5"/>
                    </a:solidFill>
                  </a:tcPr>
                </a:tc>
              </a:tr>
              <a:tr h="457200">
                <a:tc>
                  <a:txBody>
                    <a:bodyPr/>
                    <a:lstStyle/>
                    <a:p>
                      <a:pPr algn="ctr">
                        <a:defRPr sz="1300"/>
                      </a:pPr>
                      <a:r>
                        <a:t>R3</a:t>
                      </a:r>
                    </a:p>
                  </a:txBody>
                  <a:tcPr anchor="ctr"/>
                </a:tc>
                <a:tc>
                  <a:txBody>
                    <a:bodyPr/>
                    <a:lstStyle/>
                    <a:p>
                      <a:pPr algn="ctr">
                        <a:defRPr sz="1300"/>
                      </a:pPr>
                      <a:r>
                        <a:t>0.1</a:t>
                      </a:r>
                    </a:p>
                  </a:txBody>
                  <a:tcPr anchor="ctr"/>
                </a:tc>
                <a:tc>
                  <a:txBody>
                    <a:bodyPr/>
                    <a:lstStyle/>
                    <a:p>
                      <a:pPr algn="ctr">
                        <a:defRPr sz="1300"/>
                      </a:pPr>
                      <a:r>
                        <a:t>45 min</a:t>
                      </a:r>
                    </a:p>
                  </a:txBody>
                  <a:tcPr anchor="ctr"/>
                </a:tc>
                <a:tc>
                  <a:txBody>
                    <a:bodyPr/>
                    <a:lstStyle/>
                    <a:p>
                      <a:pPr algn="ctr">
                        <a:defRPr sz="1300"/>
                      </a:pPr>
                      <a:r>
                        <a:t>Efficient</a:t>
                      </a:r>
                    </a:p>
                  </a:txBody>
                  <a:tcPr anchor="ctr"/>
                </a:tc>
              </a:tr>
              <a:tr h="457200">
                <a:tc>
                  <a:txBody>
                    <a:bodyPr/>
                    <a:lstStyle/>
                    <a:p>
                      <a:pPr algn="ctr">
                        <a:defRPr sz="1300"/>
                      </a:pPr>
                      <a:r>
                        <a:t>R3</a:t>
                      </a:r>
                    </a:p>
                  </a:txBody>
                  <a:tcPr anchor="ctr">
                    <a:solidFill>
                      <a:srgbClr val="F5F5F5"/>
                    </a:solidFill>
                  </a:tcPr>
                </a:tc>
                <a:tc>
                  <a:txBody>
                    <a:bodyPr/>
                    <a:lstStyle/>
                    <a:p>
                      <a:pPr algn="ctr">
                        <a:defRPr sz="1300"/>
                      </a:pPr>
                      <a:r>
                        <a:t>0.01</a:t>
                      </a:r>
                    </a:p>
                  </a:txBody>
                  <a:tcPr anchor="ctr">
                    <a:solidFill>
                      <a:srgbClr val="F5F5F5"/>
                    </a:solidFill>
                  </a:tcPr>
                </a:tc>
                <a:tc>
                  <a:txBody>
                    <a:bodyPr/>
                    <a:lstStyle/>
                    <a:p>
                      <a:pPr algn="ctr">
                        <a:defRPr sz="1300"/>
                      </a:pPr>
                      <a:r>
                        <a:t>45 min</a:t>
                      </a:r>
                    </a:p>
                  </a:txBody>
                  <a:tcPr anchor="ctr">
                    <a:solidFill>
                      <a:srgbClr val="F5F5F5"/>
                    </a:solidFill>
                  </a:tcPr>
                </a:tc>
                <a:tc>
                  <a:txBody>
                    <a:bodyPr/>
                    <a:lstStyle/>
                    <a:p>
                      <a:pPr algn="ctr">
                        <a:defRPr sz="1300"/>
                      </a:pPr>
                      <a:r>
                        <a:t>Efficient</a:t>
                      </a:r>
                    </a:p>
                  </a:txBody>
                  <a:tcPr anchor="ctr">
                    <a:solidFill>
                      <a:srgbClr val="F5F5F5"/>
                    </a:solidFill>
                  </a:tcPr>
                </a:tc>
              </a:tr>
              <a:tr h="457200">
                <a:tc>
                  <a:txBody>
                    <a:bodyPr/>
                    <a:lstStyle/>
                    <a:p>
                      <a:pPr algn="ctr">
                        <a:defRPr sz="1300"/>
                      </a:pPr>
                      <a:r>
                        <a:t>R1</a:t>
                      </a:r>
                    </a:p>
                  </a:txBody>
                  <a:tcPr anchor="ctr"/>
                </a:tc>
                <a:tc>
                  <a:txBody>
                    <a:bodyPr/>
                    <a:lstStyle/>
                    <a:p>
                      <a:pPr algn="ctr">
                        <a:defRPr sz="1300"/>
                      </a:pPr>
                      <a:r>
                        <a:t>10</a:t>
                      </a:r>
                    </a:p>
                  </a:txBody>
                  <a:tcPr anchor="ctr"/>
                </a:tc>
                <a:tc>
                  <a:txBody>
                    <a:bodyPr/>
                    <a:lstStyle/>
                    <a:p>
                      <a:pPr algn="ctr">
                        <a:defRPr sz="1300"/>
                      </a:pPr>
                      <a:r>
                        <a:t>30 min</a:t>
                      </a:r>
                    </a:p>
                  </a:txBody>
                  <a:tcPr anchor="ctr"/>
                </a:tc>
                <a:tc>
                  <a:txBody>
                    <a:bodyPr/>
                    <a:lstStyle/>
                    <a:p>
                      <a:pPr algn="ctr">
                        <a:defRPr sz="1300"/>
                      </a:pPr>
                      <a:r>
                        <a:t>Moderate</a:t>
                      </a:r>
                    </a:p>
                  </a:txBody>
                  <a:tcPr anchor="ctr"/>
                </a:tc>
              </a:tr>
              <a:tr h="457200">
                <a:tc>
                  <a:txBody>
                    <a:bodyPr/>
                    <a:lstStyle/>
                    <a:p>
                      <a:pPr algn="ctr">
                        <a:defRPr sz="1300"/>
                      </a:pPr>
                      <a:r>
                        <a:t>R1</a:t>
                      </a:r>
                    </a:p>
                  </a:txBody>
                  <a:tcPr anchor="ctr">
                    <a:solidFill>
                      <a:srgbClr val="F5F5F5"/>
                    </a:solidFill>
                  </a:tcPr>
                </a:tc>
                <a:tc>
                  <a:txBody>
                    <a:bodyPr/>
                    <a:lstStyle/>
                    <a:p>
                      <a:pPr algn="ctr">
                        <a:defRPr sz="1300"/>
                      </a:pPr>
                      <a:r>
                        <a:t>1</a:t>
                      </a:r>
                    </a:p>
                  </a:txBody>
                  <a:tcPr anchor="ctr">
                    <a:solidFill>
                      <a:srgbClr val="F5F5F5"/>
                    </a:solidFill>
                  </a:tcPr>
                </a:tc>
                <a:tc>
                  <a:txBody>
                    <a:bodyPr/>
                    <a:lstStyle/>
                    <a:p>
                      <a:pPr algn="ctr">
                        <a:defRPr sz="1300"/>
                      </a:pPr>
                      <a:r>
                        <a:t>45 min</a:t>
                      </a:r>
                    </a:p>
                  </a:txBody>
                  <a:tcPr anchor="ctr">
                    <a:solidFill>
                      <a:srgbClr val="F5F5F5"/>
                    </a:solidFill>
                  </a:tcPr>
                </a:tc>
                <a:tc>
                  <a:txBody>
                    <a:bodyPr/>
                    <a:lstStyle/>
                    <a:p>
                      <a:pPr algn="ctr">
                        <a:defRPr sz="1300"/>
                      </a:pPr>
                      <a:r>
                        <a:t>Moderate</a:t>
                      </a:r>
                    </a:p>
                  </a:txBody>
                  <a:tcPr anchor="ctr">
                    <a:solidFill>
                      <a:srgbClr val="F5F5F5"/>
                    </a:solidFill>
                  </a:tcPr>
                </a:tc>
              </a:tr>
              <a:tr h="457200">
                <a:tc>
                  <a:txBody>
                    <a:bodyPr/>
                    <a:lstStyle/>
                    <a:p>
                      <a:pPr algn="ctr">
                        <a:defRPr sz="1300"/>
                      </a:pPr>
                      <a:r>
                        <a:t>R2</a:t>
                      </a:r>
                    </a:p>
                  </a:txBody>
                  <a:tcPr anchor="ctr"/>
                </a:tc>
                <a:tc>
                  <a:txBody>
                    <a:bodyPr/>
                    <a:lstStyle/>
                    <a:p>
                      <a:pPr algn="ctr">
                        <a:defRPr sz="1300"/>
                      </a:pPr>
                      <a:r>
                        <a:t>All MOIs</a:t>
                      </a:r>
                    </a:p>
                  </a:txBody>
                  <a:tcPr anchor="ctr"/>
                </a:tc>
                <a:tc>
                  <a:txBody>
                    <a:bodyPr/>
                    <a:lstStyle/>
                    <a:p>
                      <a:pPr algn="ctr">
                        <a:defRPr sz="1300"/>
                      </a:pPr>
                      <a:r>
                        <a:t>&gt;2h</a:t>
                      </a:r>
                    </a:p>
                  </a:txBody>
                  <a:tcPr anchor="ctr"/>
                </a:tc>
                <a:tc>
                  <a:txBody>
                    <a:bodyPr/>
                    <a:lstStyle/>
                    <a:p>
                      <a:pPr algn="ctr">
                        <a:defRPr sz="1300"/>
                      </a:pPr>
                      <a:r>
                        <a:t>Weak lysis</a:t>
                      </a:r>
                    </a:p>
                  </a:txBody>
                  <a:tcPr anchor="ctr"/>
                </a:tc>
              </a:tr>
            </a:tbl>
          </a:graphicData>
        </a:graphic>
      </p:graphicFrame>
      <p:sp>
        <p:nvSpPr>
          <p:cNvPr id="5" name="TextBox 4"/>
          <p:cNvSpPr txBox="1"/>
          <p:nvPr/>
        </p:nvSpPr>
        <p:spPr>
          <a:xfrm>
            <a:off x="731520" y="5943600"/>
            <a:ext cx="10728655" cy="365760"/>
          </a:xfrm>
          <a:prstGeom prst="rect">
            <a:avLst/>
          </a:prstGeom>
          <a:noFill/>
        </p:spPr>
        <p:txBody>
          <a:bodyPr wrap="none">
            <a:spAutoFit/>
          </a:bodyPr>
          <a:lstStyle/>
          <a:p>
            <a:pPr>
              <a:defRPr sz="1200" i="1">
                <a:solidFill>
                  <a:srgbClr val="757575"/>
                </a:solidFill>
              </a:defRPr>
            </a:pPr>
            <a:r>
              <a:t>R3 most efficient; R2 weak lysis confirms temperate nature</a:t>
            </a:r>
          </a:p>
        </p:txBody>
      </p:sp>
      <p:sp>
        <p:nvSpPr>
          <p:cNvPr id="6" name="TextBox 5"/>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77295" cy="548640"/>
          </a:xfrm>
          <a:prstGeom prst="rect">
            <a:avLst/>
          </a:prstGeom>
          <a:noFill/>
        </p:spPr>
        <p:txBody>
          <a:bodyPr wrap="none">
            <a:spAutoFit/>
          </a:bodyPr>
          <a:lstStyle/>
          <a:p>
            <a:pPr>
              <a:defRPr sz="2800" b="1">
                <a:solidFill>
                  <a:srgbClr val="FFFFFF"/>
                </a:solidFill>
              </a:defRPr>
            </a:pPr>
            <a:r>
              <a:t>Conclusions &amp; Future Plans</a:t>
            </a:r>
          </a:p>
        </p:txBody>
      </p:sp>
      <p:sp>
        <p:nvSpPr>
          <p:cNvPr id="4" name="TextBox 3"/>
          <p:cNvSpPr txBox="1"/>
          <p:nvPr/>
        </p:nvSpPr>
        <p:spPr>
          <a:xfrm>
            <a:off x="457200" y="1097280"/>
            <a:ext cx="5029200" cy="457200"/>
          </a:xfrm>
          <a:prstGeom prst="rect">
            <a:avLst/>
          </a:prstGeom>
          <a:noFill/>
        </p:spPr>
        <p:txBody>
          <a:bodyPr wrap="none">
            <a:spAutoFit/>
          </a:bodyPr>
          <a:lstStyle/>
          <a:p>
            <a:pPr>
              <a:defRPr sz="2000" b="1">
                <a:solidFill>
                  <a:srgbClr val="1465C0"/>
                </a:solidFill>
              </a:defRPr>
            </a:pPr>
            <a:r>
              <a:t>Main Findings</a:t>
            </a:r>
          </a:p>
        </p:txBody>
      </p:sp>
      <p:sp>
        <p:nvSpPr>
          <p:cNvPr id="5" name="TextBox 4"/>
          <p:cNvSpPr txBox="1"/>
          <p:nvPr/>
        </p:nvSpPr>
        <p:spPr>
          <a:xfrm>
            <a:off x="457200" y="1645920"/>
            <a:ext cx="5303520" cy="4114800"/>
          </a:xfrm>
          <a:prstGeom prst="rect">
            <a:avLst/>
          </a:prstGeom>
          <a:noFill/>
        </p:spPr>
        <p:txBody>
          <a:bodyPr wrap="square">
            <a:spAutoFit/>
          </a:bodyPr>
          <a:lstStyle/>
          <a:p>
            <a:pPr>
              <a:spcBef>
                <a:spcPts val="800"/>
              </a:spcBef>
              <a:defRPr sz="1800">
                <a:solidFill>
                  <a:srgbClr val="333333"/>
                </a:solidFill>
              </a:defRPr>
            </a:pPr>
            <a:r>
              <a:t>• Successfully isolated </a:t>
            </a:r>
            <a:r>
              <a:rPr b="1">
                <a:solidFill>
                  <a:srgbClr val="4CAF50"/>
                </a:solidFill>
              </a:rPr>
              <a:t>5 phages</a:t>
            </a:r>
            <a:r>
              <a:t> (R1-R3, W1-W2)</a:t>
            </a:r>
          </a:p>
          <a:p>
            <a:pPr>
              <a:spcBef>
                <a:spcPts val="800"/>
              </a:spcBef>
              <a:defRPr sz="1800">
                <a:solidFill>
                  <a:srgbClr val="333333"/>
                </a:solidFill>
              </a:defRPr>
            </a:pPr>
            <a:r>
              <a:t>• R1 is the only </a:t>
            </a:r>
            <a:r>
              <a:rPr b="1">
                <a:solidFill>
                  <a:srgbClr val="4CAF50"/>
                </a:solidFill>
              </a:rPr>
              <a:t>narrow-host-range</a:t>
            </a:r>
            <a:r>
              <a:t> phage</a:t>
            </a:r>
          </a:p>
          <a:p>
            <a:pPr>
              <a:spcBef>
                <a:spcPts val="800"/>
              </a:spcBef>
              <a:defRPr sz="1800">
                <a:solidFill>
                  <a:srgbClr val="333333"/>
                </a:solidFill>
              </a:defRPr>
            </a:pPr>
            <a:r>
              <a:t>• R2 </a:t>
            </a:r>
            <a:r>
              <a:rPr b="1">
                <a:solidFill>
                  <a:srgbClr val="4CAF50"/>
                </a:solidFill>
              </a:rPr>
              <a:t>turbid plaques</a:t>
            </a:r>
            <a:r>
              <a:t> + weak lysis = confirmed </a:t>
            </a:r>
            <a:r>
              <a:rPr b="1">
                <a:solidFill>
                  <a:srgbClr val="4CAF50"/>
                </a:solidFill>
              </a:rPr>
              <a:t>temperate phage</a:t>
            </a:r>
          </a:p>
          <a:p>
            <a:pPr>
              <a:spcBef>
                <a:spcPts val="800"/>
              </a:spcBef>
              <a:defRPr sz="1800">
                <a:solidFill>
                  <a:srgbClr val="333333"/>
                </a:solidFill>
              </a:defRPr>
            </a:pPr>
            <a:r>
              <a:t>• Killing curves: </a:t>
            </a:r>
            <a:r>
              <a:rPr b="1">
                <a:solidFill>
                  <a:srgbClr val="4CAF50"/>
                </a:solidFill>
              </a:rPr>
              <a:t>R3 strongest (30min), W1 fastest (56min)</a:t>
            </a:r>
          </a:p>
        </p:txBody>
      </p:sp>
      <p:sp>
        <p:nvSpPr>
          <p:cNvPr id="6" name="TextBox 5"/>
          <p:cNvSpPr txBox="1"/>
          <p:nvPr/>
        </p:nvSpPr>
        <p:spPr>
          <a:xfrm>
            <a:off x="6217920" y="1097280"/>
            <a:ext cx="5029200" cy="457200"/>
          </a:xfrm>
          <a:prstGeom prst="rect">
            <a:avLst/>
          </a:prstGeom>
          <a:noFill/>
        </p:spPr>
        <p:txBody>
          <a:bodyPr wrap="none">
            <a:spAutoFit/>
          </a:bodyPr>
          <a:lstStyle/>
          <a:p>
            <a:pPr>
              <a:defRPr sz="2000" b="1">
                <a:solidFill>
                  <a:srgbClr val="4CAF50"/>
                </a:solidFill>
              </a:defRPr>
            </a:pPr>
            <a:r>
              <a:t>Next Steps</a:t>
            </a:r>
          </a:p>
        </p:txBody>
      </p:sp>
      <p:sp>
        <p:nvSpPr>
          <p:cNvPr id="7" name="TextBox 6"/>
          <p:cNvSpPr txBox="1"/>
          <p:nvPr/>
        </p:nvSpPr>
        <p:spPr>
          <a:xfrm>
            <a:off x="6217920" y="1645920"/>
            <a:ext cx="5303520" cy="4114800"/>
          </a:xfrm>
          <a:prstGeom prst="rect">
            <a:avLst/>
          </a:prstGeom>
          <a:noFill/>
        </p:spPr>
        <p:txBody>
          <a:bodyPr wrap="square">
            <a:spAutoFit/>
          </a:bodyPr>
          <a:lstStyle/>
          <a:p>
            <a:pPr>
              <a:spcBef>
                <a:spcPts val="800"/>
              </a:spcBef>
              <a:defRPr sz="1800">
                <a:solidFill>
                  <a:srgbClr val="333333"/>
                </a:solidFill>
              </a:defRPr>
            </a:pPr>
            <a:r>
              <a:t>→ One-step growth curve experiments</a:t>
            </a:r>
          </a:p>
          <a:p>
            <a:pPr>
              <a:spcBef>
                <a:spcPts val="800"/>
              </a:spcBef>
              <a:defRPr sz="1800">
                <a:solidFill>
                  <a:srgbClr val="333333"/>
                </a:solidFill>
              </a:defRPr>
            </a:pPr>
            <a:r>
              <a:t>→ DNA extraction and genome sequencing</a:t>
            </a:r>
          </a:p>
          <a:p>
            <a:pPr>
              <a:spcBef>
                <a:spcPts val="800"/>
              </a:spcBef>
              <a:defRPr sz="1800">
                <a:solidFill>
                  <a:srgbClr val="333333"/>
                </a:solidFill>
              </a:defRPr>
            </a:pPr>
            <a:r>
              <a:t>→ TEM morphological observation</a:t>
            </a:r>
          </a:p>
        </p:txBody>
      </p:sp>
      <p:sp>
        <p:nvSpPr>
          <p:cNvPr id="8" name="TextBox 7"/>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11277295" cy="1097280"/>
          </a:xfrm>
          <a:prstGeom prst="rect">
            <a:avLst/>
          </a:prstGeom>
          <a:noFill/>
        </p:spPr>
        <p:txBody>
          <a:bodyPr wrap="none">
            <a:spAutoFit/>
          </a:bodyPr>
          <a:lstStyle/>
          <a:p>
            <a:pPr algn="ctr">
              <a:defRPr sz="5400" b="1">
                <a:solidFill>
                  <a:srgbClr val="1465C0"/>
                </a:solidFill>
              </a:defRPr>
            </a:pPr>
            <a:r>
              <a:t>Thank You!</a:t>
            </a:r>
          </a:p>
        </p:txBody>
      </p:sp>
      <p:sp>
        <p:nvSpPr>
          <p:cNvPr id="3" name="TextBox 2"/>
          <p:cNvSpPr txBox="1"/>
          <p:nvPr/>
        </p:nvSpPr>
        <p:spPr>
          <a:xfrm>
            <a:off x="457200" y="3840480"/>
            <a:ext cx="11277295" cy="548640"/>
          </a:xfrm>
          <a:prstGeom prst="rect">
            <a:avLst/>
          </a:prstGeom>
          <a:noFill/>
        </p:spPr>
        <p:txBody>
          <a:bodyPr wrap="none">
            <a:spAutoFit/>
          </a:bodyPr>
          <a:lstStyle/>
          <a:p>
            <a:pPr algn="ctr">
              <a:defRPr sz="2400">
                <a:solidFill>
                  <a:srgbClr val="757575"/>
                </a:solidFill>
              </a:defRPr>
            </a:pPr>
            <a:r>
              <a:t>Questions &amp; Discussion</a:t>
            </a:r>
          </a:p>
        </p:txBody>
      </p:sp>
      <p:sp>
        <p:nvSpPr>
          <p:cNvPr id="4" name="TextBox 3"/>
          <p:cNvSpPr txBox="1"/>
          <p:nvPr/>
        </p:nvSpPr>
        <p:spPr>
          <a:xfrm>
            <a:off x="11460175" y="6400800"/>
            <a:ext cx="548640" cy="274320"/>
          </a:xfrm>
          <a:prstGeom prst="rect">
            <a:avLst/>
          </a:prstGeom>
          <a:noFill/>
        </p:spPr>
        <p:txBody>
          <a:bodyPr wrap="none">
            <a:spAutoFit/>
          </a:bodyPr>
          <a:lstStyle/>
          <a:p>
            <a:pPr algn="r">
              <a:defRPr sz="1400" b="1">
                <a:solidFill>
                  <a:srgbClr val="1465C0"/>
                </a:solidFil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